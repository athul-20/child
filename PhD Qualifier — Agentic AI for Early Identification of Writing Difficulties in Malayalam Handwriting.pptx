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custom"/>
  <p:notesSz cx="12192000" cy="6858000"/>
  <p:embeddedFontLst>
    <p:embeddedFont>
      <p:font typeface="MiSans" charset="-122" pitchFamily="34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font" Target="fonts/font1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3864"/>
            </a:gs>
            <a:gs pos="100000">
              <a:srgbClr val="2E5A87"/>
            </a:gs>
          </a:gsLst>
          <a:lin ang="72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1016000" y="1143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spc="300" kern="0">
                <a:solidFill>
                  <a:srgbClr val="9FB8D4"/>
                </a:solidFill>
                <a:latin typeface="MiSans"/>
                <a:ea typeface="MiSans"/>
              </a:rPr>
              <a:t>DOCTORAL QUALIFIER PRESENTATION</a:t>
            </a:r>
            <a:endParaRPr lang="en-US" sz="1500" noProof="1"/>
          </a:p>
        </p:txBody>
      </p:sp>
      <p:sp>
        <p:nvSpPr>
          <p:cNvPr id="3" name="title"/>
          <p:cNvSpPr txBox="1"/>
          <p:nvPr/>
        </p:nvSpPr>
        <p:spPr>
          <a:xfrm>
            <a:off x="889000" y="1778000"/>
            <a:ext cx="10414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3000" noProof="1" b="1">
                <a:solidFill>
                  <a:srgbClr val="FFFFFF"/>
                </a:solidFill>
                <a:latin typeface="MiSans"/>
                <a:ea typeface="MiSans"/>
              </a:rPr>
              <a:t>An Agentic AI Framework for Early Identification, Longitudinal Monitoring, and Personalized Intervention of Children's Language Difficulties (Orthographic and Phonological) from Malayalam Handwritten Data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5080000" y="4445000"/>
            <a:ext cx="2032000" cy="38100"/>
          </a:xfrm>
          <a:prstGeom prst="rect">
            <a:avLst/>
          </a:prstGeom>
          <a:solidFill>
            <a:srgbClr val="C9862B"/>
          </a:solidFill>
          <a:ln>
            <a:noFill/>
          </a:ln>
        </p:spPr>
      </p:sp>
      <p:sp>
        <p:nvSpPr>
          <p:cNvPr id="5" name="scholar"/>
          <p:cNvSpPr txBox="1"/>
          <p:nvPr/>
        </p:nvSpPr>
        <p:spPr>
          <a:xfrm>
            <a:off x="2286000" y="48895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60000"/>
              </a:lnSpc>
            </a:pPr>
            <a:r>
              <a:rPr lang="en-US" sz="1600" noProof="1" b="1">
                <a:solidFill>
                  <a:srgbClr val="DCE7F3"/>
                </a:solidFill>
                <a:latin typeface="MiSans"/>
                <a:ea typeface="MiSans"/>
              </a:rPr>
              <a:t>Dhanya Sujatha</a:t>
            </a:r>
            <a:r>
              <a:rPr lang="en-US" sz="1600" noProof="1">
                <a:solidFill>
                  <a:srgbClr val="DCE7F3"/>
                </a:solidFill>
                <a:latin typeface="MiSans"/>
                <a:ea typeface="MiSans"/>
              </a:rPr>
              <a:t> — Research Scholar</a:t>
            </a:r>
            <a:endParaRPr lang="en-US" sz="1600" noProof="1"/>
          </a:p>
          <a:p>
            <a:pPr algn="ctr">
              <a:lnSpc>
                <a:spcPct val="160000"/>
              </a:lnSpc>
            </a:pPr>
            <a:r>
              <a:rPr lang="en-US" sz="1600" noProof="1">
                <a:solidFill>
                  <a:srgbClr val="DCE7F3"/>
                </a:solidFill>
                <a:latin typeface="MiSans"/>
                <a:ea typeface="MiSans"/>
              </a:rPr>
              <a:t>Supervisor: Dr. Prema Nedungadi</a:t>
            </a:r>
            <a:endParaRPr lang="en-US" sz="1600" noProof="1"/>
          </a:p>
          <a:p>
            <a:pPr algn="ctr">
              <a:lnSpc>
                <a:spcPct val="160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9FB8D4"/>
                </a:solidFill>
                <a:latin typeface="MiSans"/>
                <a:ea typeface="MiSans"/>
              </a:rPr>
              <a:t>Amrita School of Computing, Amrita Vishwa Vidyapeetham, Amritapuri · 2026</a:t>
            </a:r>
            <a:endParaRPr lang="en-US" sz="16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3556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1F3864"/>
                </a:solidFill>
                <a:latin typeface="MiSans"/>
                <a:ea typeface="MiSans"/>
              </a:rPr>
              <a:t>The Problem: An Invisible Population</a:t>
            </a:r>
            <a:endParaRPr lang="en-US" sz="3000" noProof="1"/>
          </a:p>
        </p:txBody>
      </p:sp>
      <p:sp>
        <p:nvSpPr>
          <p:cNvPr id="3" name="statbox1"/>
          <p:cNvSpPr/>
          <p:nvPr/>
        </p:nvSpPr>
        <p:spPr>
          <a:xfrm>
            <a:off x="635000" y="1206500"/>
            <a:ext cx="3429000" cy="1651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</p:sp>
      <p:sp>
        <p:nvSpPr>
          <p:cNvPr id="4" name="stat1"/>
          <p:cNvSpPr txBox="1"/>
          <p:nvPr/>
        </p:nvSpPr>
        <p:spPr>
          <a:xfrm>
            <a:off x="825500" y="1333500"/>
            <a:ext cx="30480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3400" noProof="1" b="1">
                <a:solidFill>
                  <a:srgbClr val="1F3864"/>
                </a:solidFill>
                <a:latin typeface="MiSans"/>
                <a:ea typeface="MiSans"/>
              </a:rPr>
              <a:t>16.49%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1300" noProof="1">
                <a:solidFill>
                  <a:srgbClr val="1F2A36"/>
                </a:solidFill>
                <a:latin typeface="MiSans"/>
                <a:ea typeface="MiSans"/>
              </a:rPr>
              <a:t>SLD prevalence, Kerala schoolchildren (ELD study, n=1,480)</a:t>
            </a:r>
            <a:endParaRPr lang="en-US" sz="1600" noProof="1"/>
          </a:p>
        </p:txBody>
      </p:sp>
      <p:sp>
        <p:nvSpPr>
          <p:cNvPr id="5" name="statbox2"/>
          <p:cNvSpPr/>
          <p:nvPr/>
        </p:nvSpPr>
        <p:spPr>
          <a:xfrm>
            <a:off x="4381500" y="1206500"/>
            <a:ext cx="3429000" cy="1651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</p:sp>
      <p:sp>
        <p:nvSpPr>
          <p:cNvPr id="6" name="stat2"/>
          <p:cNvSpPr txBox="1"/>
          <p:nvPr/>
        </p:nvSpPr>
        <p:spPr>
          <a:xfrm>
            <a:off x="4572000" y="1333500"/>
            <a:ext cx="30480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3400" noProof="1" b="1">
                <a:solidFill>
                  <a:srgbClr val="C9862B"/>
                </a:solidFill>
                <a:latin typeface="MiSans"/>
                <a:ea typeface="MiSans"/>
              </a:rPr>
              <a:t>0 / 244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1300" noProof="1">
                <a:solidFill>
                  <a:srgbClr val="1F2A36"/>
                </a:solidFill>
                <a:latin typeface="MiSans"/>
                <a:ea typeface="MiSans"/>
              </a:rPr>
              <a:t>identified children who had ever been evaluated or received remediation</a:t>
            </a:r>
            <a:endParaRPr lang="en-US" sz="1600" noProof="1"/>
          </a:p>
        </p:txBody>
      </p:sp>
      <p:sp>
        <p:nvSpPr>
          <p:cNvPr id="7" name="statbox3"/>
          <p:cNvSpPr/>
          <p:nvPr/>
        </p:nvSpPr>
        <p:spPr>
          <a:xfrm>
            <a:off x="8128000" y="1206500"/>
            <a:ext cx="3429000" cy="1651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</p:sp>
      <p:sp>
        <p:nvSpPr>
          <p:cNvPr id="8" name="stat3"/>
          <p:cNvSpPr txBox="1"/>
          <p:nvPr/>
        </p:nvSpPr>
        <p:spPr>
          <a:xfrm>
            <a:off x="8318500" y="1333500"/>
            <a:ext cx="30480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3400" noProof="1" b="1">
                <a:solidFill>
                  <a:srgbClr val="2E7D5B"/>
                </a:solidFill>
                <a:latin typeface="MiSans"/>
                <a:ea typeface="MiSans"/>
              </a:rPr>
              <a:t>15.6%</a:t>
            </a:r>
            <a:endParaRPr lang="en-US" sz="1600" noProof="1"/>
          </a:p>
          <a:p>
            <a:pPr algn="ctr">
              <a:lnSpc>
                <a:spcPct val="130000"/>
              </a:lnSpc>
            </a:pPr>
            <a:r>
              <a:rPr lang="en-US" sz="1300" noProof="1">
                <a:solidFill>
                  <a:srgbClr val="1F2A36"/>
                </a:solidFill>
                <a:latin typeface="MiSans"/>
                <a:ea typeface="MiSans"/>
              </a:rPr>
              <a:t>written-expression impairment — the most common SLD subtype</a:t>
            </a:r>
            <a:endParaRPr lang="en-US" sz="1600" noProof="1"/>
          </a:p>
        </p:txBody>
      </p:sp>
      <p:pic>
        <p:nvPicPr>
          <p:cNvPr id="9" name="chart"/>
          <p:cNvPicPr/>
          <p:nvPr/>
        </p:nvPicPr>
        <p:blipFill>
          <a:blip r:embed="rId2"/>
          <a:srcRect t="-4732" b="-4732"/>
          <a:stretch>
            <a:fillRect/>
          </a:stretch>
        </p:blipFill>
        <p:spPr>
          <a:xfrm>
            <a:off x="1143000" y="3111500"/>
            <a:ext cx="5842000" cy="3302000"/>
          </a:xfrm>
          <a:prstGeom prst="rect">
            <a:avLst/>
          </a:prstGeom>
          <a:ln>
            <a:noFill/>
          </a:ln>
        </p:spPr>
      </p:pic>
      <p:sp>
        <p:nvSpPr>
          <p:cNvPr id="10" name="points"/>
          <p:cNvSpPr txBox="1"/>
          <p:nvPr/>
        </p:nvSpPr>
        <p:spPr>
          <a:xfrm>
            <a:off x="7366000" y="3175000"/>
            <a:ext cx="4318000" cy="3238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 b="1">
                <a:solidFill>
                  <a:srgbClr val="1F2A36"/>
                </a:solidFill>
                <a:latin typeface="MiSans"/>
                <a:ea typeface="MiSans"/>
              </a:rPr>
              <a:t>Why this persists:</a:t>
            </a:r>
            <a:endParaRPr lang="en-US" sz="14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1F2A36"/>
                </a:solidFill>
                <a:latin typeface="MiSans"/>
                <a:ea typeface="MiSans"/>
              </a:rPr>
              <a:t>• A handful of specialists cannot screen lakhs of children with hour-long subjective assessments</a:t>
            </a:r>
            <a:endParaRPr lang="en-US" sz="14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noProof="1">
                <a:solidFill>
                  <a:srgbClr val="1F2A36"/>
                </a:solidFill>
                <a:latin typeface="MiSans"/>
                <a:ea typeface="MiSans"/>
              </a:rPr>
              <a:t>• Classroom teachers receive little training to spot these difficulties</a:t>
            </a:r>
            <a:endParaRPr lang="en-US" sz="14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noProof="1">
                <a:solidFill>
                  <a:srgbClr val="1F2A36"/>
                </a:solidFill>
                <a:latin typeface="MiSans"/>
                <a:ea typeface="MiSans"/>
              </a:rPr>
              <a:t>• Early identification (ages 4–8) is decisive: structured support at this stage measurably closes literacy gaps</a:t>
            </a:r>
            <a:endParaRPr lang="en-US" sz="14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noProof="1">
                <a:solidFill>
                  <a:srgbClr val="1F2A36"/>
                </a:solidFill>
                <a:latin typeface="MiSans"/>
                <a:ea typeface="MiSans"/>
              </a:rPr>
              <a:t>• No early-identification system exists for Malayalam — or any Indian language</a:t>
            </a:r>
            <a:endParaRPr lang="en-US" sz="14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355600"/>
            <a:ext cx="1092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1F3864"/>
                </a:solidFill>
                <a:latin typeface="MiSans"/>
                <a:ea typeface="MiSans"/>
              </a:rPr>
              <a:t>Why Handwriting — and Why Malayalam</a:t>
            </a:r>
            <a:endParaRPr lang="en-US" sz="3000" noProof="1"/>
          </a:p>
        </p:txBody>
      </p:sp>
      <p:sp>
        <p:nvSpPr>
          <p:cNvPr id="3" name="col1h"/>
          <p:cNvSpPr/>
          <p:nvPr/>
        </p:nvSpPr>
        <p:spPr>
          <a:xfrm>
            <a:off x="635000" y="1206500"/>
            <a:ext cx="5334000" cy="508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4" name="col1ht"/>
          <p:cNvSpPr txBox="1"/>
          <p:nvPr/>
        </p:nvSpPr>
        <p:spPr>
          <a:xfrm>
            <a:off x="825500" y="12065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MiSans"/>
                <a:ea typeface="MiSans"/>
              </a:rPr>
              <a:t>Handwriting as the sensor</a:t>
            </a:r>
            <a:endParaRPr lang="en-US" sz="1600" noProof="1"/>
          </a:p>
        </p:txBody>
      </p:sp>
      <p:sp>
        <p:nvSpPr>
          <p:cNvPr id="5" name="col1"/>
          <p:cNvSpPr txBox="1"/>
          <p:nvPr/>
        </p:nvSpPr>
        <p:spPr>
          <a:xfrm>
            <a:off x="635000" y="1905000"/>
            <a:ext cx="5334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1F2A36"/>
                </a:solidFill>
                <a:latin typeface="MiSans"/>
                <a:ea typeface="MiSans"/>
              </a:rPr>
              <a:t>• Produced daily in every classroom — no special equipment beyond a phone camera</a:t>
            </a:r>
            <a:endParaRPr lang="en-US" sz="140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400" noProof="1">
                <a:solidFill>
                  <a:srgbClr val="1F2A36"/>
                </a:solidFill>
                <a:latin typeface="MiSans"/>
                <a:ea typeface="MiSans"/>
              </a:rPr>
              <a:t>• </a:t>
            </a:r>
            <a:r>
              <a:rPr lang="en-US" sz="1400" noProof="1" b="1">
                <a:solidFill>
                  <a:srgbClr val="1F2A36"/>
                </a:solidFill>
                <a:latin typeface="MiSans"/>
                <a:ea typeface="MiSans"/>
              </a:rPr>
              <a:t>Letters may be cleanly formed, yet what is written is linguistically wrong</a:t>
            </a:r>
            <a:r>
              <a:rPr lang="en-US" sz="1400" noProof="1">
                <a:solidFill>
                  <a:srgbClr val="1F2A36"/>
                </a:solidFill>
                <a:latin typeface="MiSans"/>
                <a:ea typeface="MiSans"/>
              </a:rPr>
              <a:t> — the difficulty is in the language system, not the hand</a:t>
            </a:r>
            <a:endParaRPr lang="en-US" sz="140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400" noProof="1">
                <a:solidFill>
                  <a:srgbClr val="1F2A36"/>
                </a:solidFill>
                <a:latin typeface="MiSans"/>
                <a:ea typeface="MiSans"/>
              </a:rPr>
              <a:t>• Jointly encodes orthographic errors, spelling errors, and the child's underlying phonological representation</a:t>
            </a:r>
            <a:endParaRPr lang="en-US" sz="140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400" noProof="1">
                <a:solidFill>
                  <a:srgbClr val="1F2A36"/>
                </a:solidFill>
                <a:latin typeface="MiSans"/>
                <a:ea typeface="MiSans"/>
              </a:rPr>
              <a:t>• Buffalo DDBIC framework (2025): most of 17 dyslexia/dysgraphia indicators are extractable from static handwriting images</a:t>
            </a:r>
            <a:endParaRPr lang="en-US" sz="140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400" noProof="1">
                <a:solidFill>
                  <a:srgbClr val="1F2A36"/>
                </a:solidFill>
                <a:latin typeface="MiSans"/>
                <a:ea typeface="MiSans"/>
              </a:rPr>
              <a:t>• Our target: the </a:t>
            </a:r>
            <a:r>
              <a:rPr lang="en-US" sz="1400" noProof="1" b="1">
                <a:solidFill>
                  <a:srgbClr val="1F2A36"/>
                </a:solidFill>
                <a:latin typeface="MiSans"/>
                <a:ea typeface="MiSans"/>
              </a:rPr>
              <a:t>language (dyslexia-type)</a:t>
            </a:r>
            <a:r>
              <a:rPr lang="en-US" sz="1400" noProof="1">
                <a:solidFill>
                  <a:srgbClr val="1F2A36"/>
                </a:solidFill>
                <a:latin typeface="MiSans"/>
                <a:ea typeface="MiSans"/>
              </a:rPr>
              <a:t> difficulty — phonologically deviant spellings — not motoric penmanship (dysgraphia)</a:t>
            </a:r>
            <a:endParaRPr lang="en-US" sz="1400" noProof="1"/>
          </a:p>
        </p:txBody>
      </p:sp>
      <p:sp>
        <p:nvSpPr>
          <p:cNvPr id="6" name="col2h"/>
          <p:cNvSpPr/>
          <p:nvPr/>
        </p:nvSpPr>
        <p:spPr>
          <a:xfrm>
            <a:off x="6223000" y="1206500"/>
            <a:ext cx="5334000" cy="508000"/>
          </a:xfrm>
          <a:prstGeom prst="roundRect">
            <a:avLst/>
          </a:prstGeom>
          <a:solidFill>
            <a:srgbClr val="2E7D5B"/>
          </a:solidFill>
          <a:ln>
            <a:noFill/>
          </a:ln>
        </p:spPr>
      </p:sp>
      <p:sp>
        <p:nvSpPr>
          <p:cNvPr id="7" name="col2ht"/>
          <p:cNvSpPr txBox="1"/>
          <p:nvPr/>
        </p:nvSpPr>
        <p:spPr>
          <a:xfrm>
            <a:off x="6413500" y="12065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MiSans"/>
                <a:ea typeface="MiSans"/>
              </a:rPr>
              <a:t>Malayalam as the language</a:t>
            </a:r>
            <a:endParaRPr lang="en-US" sz="1600" noProof="1"/>
          </a:p>
        </p:txBody>
      </p:sp>
      <p:sp>
        <p:nvSpPr>
          <p:cNvPr id="8" name="col2"/>
          <p:cNvSpPr txBox="1"/>
          <p:nvPr/>
        </p:nvSpPr>
        <p:spPr>
          <a:xfrm>
            <a:off x="6223000" y="1905000"/>
            <a:ext cx="5334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1F2A36"/>
                </a:solidFill>
                <a:latin typeface="MiSans"/>
                <a:ea typeface="MiSans"/>
              </a:rPr>
              <a:t>• ~45M speakers; the literacy medium of Kerala children — state-syllabus children carry higher SLD risk (OR 6.97)</a:t>
            </a:r>
            <a:endParaRPr lang="en-US" sz="140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400" noProof="1">
                <a:solidFill>
                  <a:srgbClr val="1F2A36"/>
                </a:solidFill>
                <a:latin typeface="MiSans"/>
                <a:ea typeface="MiSans"/>
              </a:rPr>
              <a:t>• A screening tool must work in the child's medium of instruction</a:t>
            </a:r>
            <a:endParaRPr lang="en-US" sz="140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400" noProof="1">
                <a:solidFill>
                  <a:srgbClr val="1F2A36"/>
                </a:solidFill>
                <a:latin typeface="MiSans"/>
                <a:ea typeface="MiSans"/>
              </a:rPr>
              <a:t>• Near-transparent akshara orthography: spelling errors map directly to phonological causes — </a:t>
            </a:r>
            <a:r>
              <a:rPr lang="en-US" sz="1400" noProof="1" b="1">
                <a:solidFill>
                  <a:srgbClr val="1F2A36"/>
                </a:solidFill>
                <a:latin typeface="MiSans"/>
                <a:ea typeface="MiSans"/>
              </a:rPr>
              <a:t>more</a:t>
            </a:r>
            <a:r>
              <a:rPr lang="en-US" sz="1400" noProof="1">
                <a:solidFill>
                  <a:srgbClr val="1F2A36"/>
                </a:solidFill>
                <a:latin typeface="MiSans"/>
                <a:ea typeface="MiSans"/>
              </a:rPr>
              <a:t> diagnostic than English</a:t>
            </a:r>
            <a:endParaRPr lang="en-US" sz="140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400" noProof="1">
                <a:solidFill>
                  <a:srgbClr val="1F2A36"/>
                </a:solidFill>
                <a:latin typeface="MiSans"/>
                <a:ea typeface="MiSans"/>
              </a:rPr>
              <a:t>• Architecture exploits alphasyllabic structure → transfers to Tamil, Kannada, Telugu, Devanagari; English is out of scope</a:t>
            </a:r>
            <a:endParaRPr lang="en-US" sz="1400" noProof="1"/>
          </a:p>
        </p:txBody>
      </p:sp>
      <p:sp>
        <p:nvSpPr>
          <p:cNvPr id="9" name="bottombar"/>
          <p:cNvSpPr/>
          <p:nvPr/>
        </p:nvSpPr>
        <p:spPr>
          <a:xfrm>
            <a:off x="635000" y="5461000"/>
            <a:ext cx="10922000" cy="889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</p:sp>
      <p:sp>
        <p:nvSpPr>
          <p:cNvPr id="10" name="bottomtext"/>
          <p:cNvSpPr txBox="1"/>
          <p:nvPr/>
        </p:nvSpPr>
        <p:spPr>
          <a:xfrm>
            <a:off x="952500" y="5562600"/>
            <a:ext cx="10287000" cy="698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450" noProof="1" b="1">
                <a:solidFill>
                  <a:srgbClr val="1F3864"/>
                </a:solidFill>
                <a:latin typeface="MiSans"/>
                <a:ea typeface="MiSans"/>
              </a:rPr>
              <a:t>The core insight:</a:t>
            </a:r>
            <a:r>
              <a:rPr lang="en-US" sz="1450" noProof="1">
                <a:solidFill>
                  <a:srgbClr val="1F3864"/>
                </a:solidFill>
                <a:latin typeface="MiSans"/>
                <a:ea typeface="MiSans"/>
              </a:rPr>
              <a:t> for this application, the child's error is not noise to correct — </a:t>
            </a:r>
            <a:r>
              <a:rPr lang="en-US" sz="1450" noProof="1" b="1">
                <a:solidFill>
                  <a:srgbClr val="1F3864"/>
                </a:solidFill>
                <a:latin typeface="MiSans"/>
                <a:ea typeface="MiSans"/>
              </a:rPr>
              <a:t>the error IS the diagnostic data.</a:t>
            </a:r>
            <a:r>
              <a:rPr lang="en-US" sz="1450" noProof="1">
                <a:solidFill>
                  <a:srgbClr val="1F3864"/>
                </a:solidFill>
                <a:latin typeface="MiSans"/>
                <a:ea typeface="MiSans"/>
              </a:rPr>
              <a:t> Any system that auto-corrects destroys the signal.</a:t>
            </a:r>
            <a:endParaRPr lang="en-US" sz="14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3048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F3864"/>
                </a:solidFill>
                <a:latin typeface="MiSans"/>
                <a:ea typeface="MiSans"/>
              </a:rPr>
              <a:t>Research Gap: Four Streams, One Missing Link</a:t>
            </a:r>
            <a:endParaRPr lang="en-US" sz="2800" noProof="1"/>
          </a:p>
        </p:txBody>
      </p:sp>
      <p:graphicFrame>
        <p:nvGraphicFramePr>
          <p:cNvPr id="3" name="tbl"/>
          <p:cNvGraphicFramePr>
            <a:graphicFrameLocks noGrp="1"/>
          </p:cNvGraphicFramePr>
          <p:nvPr/>
        </p:nvGraphicFramePr>
        <p:xfrm>
          <a:off x="508000" y="990600"/>
          <a:ext cx="11176000" cy="4445000"/>
        </p:xfrm>
        <a:graphic>
          <a:graphicData uri="http://schemas.openxmlformats.org/drawingml/2006/table">
            <a:tbl>
              <a:tblPr/>
              <a:tblGrid>
                <a:gridCol w="2235200"/>
                <a:gridCol w="3352800"/>
                <a:gridCol w="5588000"/>
              </a:tblGrid>
              <a:tr h="5334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Stream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Representative work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What is missing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9779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Handwriting-based dyslexia / dysgraphia screening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DDBIC (Buffalo 2025); SAU-Net; TestGraphia; Asselborn et al.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English/Latin, adult focus; binary has/disorder labels; stops at screening — no intervention loop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779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Malayalam / Indic handwritten recognition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HERA (this scholar, under review); DSC+Bi-LSTM; CNN-based MHCR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Prior work trains on correct adult writing — punishes error preservation; only HERA preserves errors, and stops at word level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</a:tr>
              <a:tr h="9779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Grapheme–phoneme / phonological analysis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OSUR-G2P (this scholar, under review); mlphon FST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mlphon rejects 43.5% of learner spellings; clinical error analysis is manual and English-centric; no longitudinal profiling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779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Agentic AI in education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LLM-agent surveys; GenMentor; RL multi-agent ITS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No agent consumes handwriting-derived evidence; none targets early-literacy children; none in an Indic language; none RTI-grounded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4" name="gapbar"/>
          <p:cNvSpPr/>
          <p:nvPr/>
        </p:nvSpPr>
        <p:spPr>
          <a:xfrm>
            <a:off x="508000" y="5651500"/>
            <a:ext cx="11176000" cy="7874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5" name="gaptext"/>
          <p:cNvSpPr txBox="1"/>
          <p:nvPr/>
        </p:nvSpPr>
        <p:spPr>
          <a:xfrm>
            <a:off x="825500" y="5727700"/>
            <a:ext cx="10541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450" noProof="1" b="1">
                <a:solidFill>
                  <a:srgbClr val="FFFFFF"/>
                </a:solidFill>
                <a:latin typeface="MiSans"/>
                <a:ea typeface="MiSans"/>
              </a:rPr>
              <a:t>Gap:</a:t>
            </a:r>
            <a:r>
              <a:rPr lang="en-US" sz="1450" noProof="1">
                <a:solidFill>
                  <a:srgbClr val="FFFFFF"/>
                </a:solidFill>
                <a:latin typeface="MiSans"/>
                <a:ea typeface="MiSans"/>
              </a:rPr>
              <a:t> nothing connects error-preserving recognition → linguistic error profiling → agent-delivered, monitored intervention — in any language. My two works (under review) close the first two links; </a:t>
            </a:r>
            <a:r>
              <a:rPr lang="en-US" sz="1450" noProof="1" b="1">
                <a:solidFill>
                  <a:srgbClr val="FFFFFF"/>
                </a:solidFill>
                <a:latin typeface="MiSans"/>
                <a:ea typeface="MiSans"/>
              </a:rPr>
              <a:t>the third link is the doctoral contribution.</a:t>
            </a:r>
            <a:endParaRPr lang="en-US" sz="14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3048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F3864"/>
                </a:solidFill>
                <a:latin typeface="MiSans"/>
                <a:ea typeface="MiSans"/>
              </a:rPr>
              <a:t>"Can LLMs Not Just Do This?" — We Measured It</a:t>
            </a:r>
            <a:endParaRPr lang="en-US" sz="2800" noProof="1"/>
          </a:p>
        </p:txBody>
      </p:sp>
      <p:graphicFrame>
        <p:nvGraphicFramePr>
          <p:cNvPr id="3" name="tbl"/>
          <p:cNvGraphicFramePr>
            <a:graphicFrameLocks noGrp="1"/>
          </p:cNvGraphicFramePr>
          <p:nvPr/>
        </p:nvGraphicFramePr>
        <p:xfrm>
          <a:off x="508000" y="990600"/>
          <a:ext cx="6604000" cy="4064000"/>
        </p:xfrm>
        <a:graphic>
          <a:graphicData uri="http://schemas.openxmlformats.org/drawingml/2006/table">
            <a:tbl>
              <a:tblPr/>
              <a:tblGrid>
                <a:gridCol w="3302000"/>
                <a:gridCol w="1849120"/>
                <a:gridCol w="1452880"/>
              </a:tblGrid>
              <a:tr h="56896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System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Approach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CER 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49987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HERA (ours)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D8F0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Retrieval-only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D8F0D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0.20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D8F0DC"/>
                    </a:solidFill>
                  </a:tcPr>
                </a:tc>
              </a:tr>
              <a:tr h="49987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Gemini 2.5 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Generative VLM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0.388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</a:tr>
              <a:tr h="49987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Sarvam AI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Indic VLM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0.441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987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PaddleOCR (FT)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Supervised CNN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0.528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</a:tr>
              <a:tr h="49987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PaddleOCR (std)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Supervised CNN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0.621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987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GPT-5.1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Generative LLM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0.786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</a:tr>
              <a:tr h="49987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Claude Opus 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Multimodal LLM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0.800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points"/>
          <p:cNvSpPr txBox="1"/>
          <p:nvPr/>
        </p:nvSpPr>
        <p:spPr>
          <a:xfrm>
            <a:off x="7493000" y="1079500"/>
            <a:ext cx="4191000" cy="393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50" noProof="1" b="1">
                <a:solidFill>
                  <a:srgbClr val="1F2A36"/>
                </a:solidFill>
                <a:latin typeface="MiSans"/>
                <a:ea typeface="MiSans"/>
              </a:rPr>
              <a:t>Three-level answer: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50" noProof="1" b="1">
                <a:solidFill>
                  <a:srgbClr val="1F2A36"/>
                </a:solidFill>
                <a:latin typeface="MiSans"/>
                <a:ea typeface="MiSans"/>
              </a:rPr>
              <a:t>1. Perception fails, measurably.</a:t>
            </a: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 Frontier VLMs/LLMs reach 20–61% character accuracy where HERA reaches 80% — and they fail by </a:t>
            </a:r>
            <a:r>
              <a:rPr lang="en-US" sz="1350" noProof="1" i="1">
                <a:solidFill>
                  <a:srgbClr val="1F2A36"/>
                </a:solidFill>
                <a:latin typeface="MiSans"/>
                <a:ea typeface="MiSans"/>
              </a:rPr>
              <a:t>auto-correcting the child's errors away</a:t>
            </a: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.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50" noProof="1" b="1">
                <a:solidFill>
                  <a:srgbClr val="1F2A36"/>
                </a:solidFill>
                <a:latin typeface="MiSans"/>
                <a:ea typeface="MiSans"/>
              </a:rPr>
              <a:t>2. The cause is structural.</a:t>
            </a: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 The language prior is baked into decoding — strict "do not correct" prompting does not switch it off. mlphon likewise rejects 43.5% of learner spellings.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50" noProof="1" b="1">
                <a:solidFill>
                  <a:srgbClr val="1F2A36"/>
                </a:solidFill>
                <a:latin typeface="MiSans"/>
                <a:ea typeface="MiSans"/>
              </a:rPr>
              <a:t>3. So LLMs take their proper role.</a:t>
            </a: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 Reasoning over verified evidence, planning, content, explanation — on top of a deterministic evidence chain they cannot replace.</a:t>
            </a:r>
            <a:endParaRPr lang="en-US" sz="1350" noProof="1"/>
          </a:p>
        </p:txBody>
      </p:sp>
      <p:sp>
        <p:nvSpPr>
          <p:cNvPr id="5" name="bottombar"/>
          <p:cNvSpPr/>
          <p:nvPr/>
        </p:nvSpPr>
        <p:spPr>
          <a:xfrm>
            <a:off x="508000" y="5334000"/>
            <a:ext cx="11176000" cy="10414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</p:sp>
      <p:sp>
        <p:nvSpPr>
          <p:cNvPr id="6" name="bottomtext"/>
          <p:cNvSpPr txBox="1"/>
          <p:nvPr/>
        </p:nvSpPr>
        <p:spPr>
          <a:xfrm>
            <a:off x="825500" y="5435600"/>
            <a:ext cx="10541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450" noProof="1">
                <a:solidFill>
                  <a:srgbClr val="1F3864"/>
                </a:solidFill>
                <a:latin typeface="MiSans"/>
                <a:ea typeface="MiSans"/>
              </a:rPr>
              <a:t>Design principle: </a:t>
            </a:r>
            <a:r>
              <a:rPr lang="en-US" sz="1450" noProof="1" b="1">
                <a:solidFill>
                  <a:srgbClr val="1F3864"/>
                </a:solidFill>
                <a:latin typeface="MiSans"/>
                <a:ea typeface="MiSans"/>
              </a:rPr>
              <a:t>error preservation must be architectural, not prompted.</a:t>
            </a:r>
            <a:endParaRPr lang="en-US" sz="1450" noProof="1"/>
          </a:p>
          <a:p>
            <a:pPr algn="ctr">
              <a:lnSpc>
                <a:spcPct val="140000"/>
              </a:lnSpc>
            </a:pPr>
            <a:r>
              <a:rPr lang="en-US" sz="1450" noProof="1">
                <a:solidFill>
                  <a:srgbClr val="1F3864"/>
                </a:solidFill>
                <a:latin typeface="MiSans"/>
                <a:ea typeface="MiSans"/>
              </a:rPr>
              <a:t>Agents orchestrate deterministic tools (HERA, OSUR-G2P, statistics) — they do not perceive or compute trends in-context.</a:t>
            </a:r>
            <a:endParaRPr lang="en-US" sz="14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3048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F3864"/>
                </a:solidFill>
                <a:latin typeface="MiSans"/>
                <a:ea typeface="MiSans"/>
              </a:rPr>
              <a:t>Problem Statement</a:t>
            </a:r>
            <a:endParaRPr lang="en-US" sz="2800" noProof="1"/>
          </a:p>
        </p:txBody>
      </p:sp>
      <p:sp>
        <p:nvSpPr>
          <p:cNvPr id="3" name="psbox"/>
          <p:cNvSpPr/>
          <p:nvPr/>
        </p:nvSpPr>
        <p:spPr>
          <a:xfrm>
            <a:off x="635000" y="1016000"/>
            <a:ext cx="10922000" cy="254000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B9CBDD"/>
            </a:solidFill>
          </a:ln>
        </p:spPr>
      </p:sp>
      <p:sp>
        <p:nvSpPr>
          <p:cNvPr id="4" name="pstext"/>
          <p:cNvSpPr txBox="1"/>
          <p:nvPr/>
        </p:nvSpPr>
        <p:spPr>
          <a:xfrm>
            <a:off x="1016000" y="1206500"/>
            <a:ext cx="10160000" cy="218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350" noProof="1" i="1">
                <a:solidFill>
                  <a:srgbClr val="1F2A36"/>
                </a:solidFill>
                <a:latin typeface="MiSans"/>
                <a:ea typeface="MiSans"/>
              </a:rPr>
              <a:t>Orthographic and phonological language difficulties are the most prevalent yet least screened form of SLD among Indian primary-school children — and they surface in everyday handwriting, where the letters may be well-formed but what is written is linguistically wrong. Handwriting is the sensor, not the disorder. Existing computational approaches (a) target English/Latin adult handwriting, (b) auto-correct away the very errors that carry the diagnostic signal, and (c) stop at one-time detection — a binary label — with no explanation of which difficulties the child shows, and no tracking of whether help is working.</a:t>
            </a:r>
            <a:endParaRPr lang="en-US" sz="135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350" noProof="1" i="1">
                <a:solidFill>
                  <a:srgbClr val="1F2A36"/>
                </a:solidFill>
                <a:latin typeface="MiSans"/>
                <a:ea typeface="MiSans"/>
              </a:rPr>
              <a:t>This research proposes an identification–insight–monitoring framework: error-preserving recognition (HERA) and error-preserving G2P (OSUR) feed an agentic diagnostic layer holding a longitudinal learner model; each new sample is compared against the child's own history to produce actionable insights and progress verdicts; an agentic intervention layer delivers personalized, tiered remediation measured by the same pipeline — a closed loop under teacher supervision, transferable to other akshara scripts.</a:t>
            </a:r>
            <a:endParaRPr lang="en-US" sz="1350" noProof="1"/>
          </a:p>
        </p:txBody>
      </p:sp>
      <p:sp>
        <p:nvSpPr>
          <p:cNvPr id="5" name="q1"/>
          <p:cNvSpPr/>
          <p:nvPr/>
        </p:nvSpPr>
        <p:spPr>
          <a:xfrm>
            <a:off x="635000" y="3873500"/>
            <a:ext cx="3429000" cy="2159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</p:sp>
      <p:sp>
        <p:nvSpPr>
          <p:cNvPr id="6" name="q1t"/>
          <p:cNvSpPr txBox="1"/>
          <p:nvPr/>
        </p:nvSpPr>
        <p:spPr>
          <a:xfrm>
            <a:off x="825500" y="4038600"/>
            <a:ext cx="3048000" cy="184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2600" noProof="1">
                <a:solidFill>
                  <a:srgbClr val="333333"/>
                </a:solidFill>
                <a:latin typeface="MiSans"/>
                <a:ea typeface="MiSans"/>
              </a:rPr>
              <a:t>🔍</a:t>
            </a:r>
            <a:endParaRPr lang="en-US" sz="1600" noProof="1"/>
          </a:p>
          <a:p>
            <a:pPr algn="ctr">
              <a:lnSpc>
                <a:spcPct val="140000"/>
              </a:lnSpc>
            </a:pPr>
            <a:r>
              <a:rPr lang="en-US" sz="1500" noProof="1" b="1">
                <a:solidFill>
                  <a:srgbClr val="1F3864"/>
                </a:solidFill>
                <a:latin typeface="MiSans"/>
                <a:ea typeface="MiSans"/>
              </a:rPr>
              <a:t>Which difficulties?</a:t>
            </a:r>
            <a:endParaRPr lang="en-US" sz="1600" noProof="1"/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lang="en-US" sz="1250" noProof="1">
                <a:solidFill>
                  <a:srgbClr val="1F2A36"/>
                </a:solidFill>
                <a:latin typeface="MiSans"/>
                <a:ea typeface="MiSans"/>
              </a:rPr>
              <a:t>Specific orthographic vs phonological error patterns, classified against a diagnostic schema</a:t>
            </a:r>
            <a:endParaRPr lang="en-US" sz="1600" noProof="1"/>
          </a:p>
        </p:txBody>
      </p:sp>
      <p:sp>
        <p:nvSpPr>
          <p:cNvPr id="7" name="q2"/>
          <p:cNvSpPr/>
          <p:nvPr/>
        </p:nvSpPr>
        <p:spPr>
          <a:xfrm>
            <a:off x="4381500" y="3873500"/>
            <a:ext cx="3429000" cy="2159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</p:sp>
      <p:sp>
        <p:nvSpPr>
          <p:cNvPr id="8" name="q2t"/>
          <p:cNvSpPr txBox="1"/>
          <p:nvPr/>
        </p:nvSpPr>
        <p:spPr>
          <a:xfrm>
            <a:off x="4572000" y="4038600"/>
            <a:ext cx="3048000" cy="184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2600" noProof="1">
                <a:solidFill>
                  <a:srgbClr val="333333"/>
                </a:solidFill>
                <a:latin typeface="MiSans"/>
                <a:ea typeface="MiSans"/>
              </a:rPr>
              <a:t>🎯</a:t>
            </a:r>
            <a:endParaRPr lang="en-US" sz="1600" noProof="1"/>
          </a:p>
          <a:p>
            <a:pPr algn="ctr">
              <a:lnSpc>
                <a:spcPct val="140000"/>
              </a:lnSpc>
            </a:pPr>
            <a:r>
              <a:rPr lang="en-US" sz="1500" noProof="1" b="1">
                <a:solidFill>
                  <a:srgbClr val="1F3864"/>
                </a:solidFill>
                <a:latin typeface="MiSans"/>
                <a:ea typeface="MiSans"/>
              </a:rPr>
              <a:t>What to work on?</a:t>
            </a:r>
            <a:endParaRPr lang="en-US" sz="1600" noProof="1"/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lang="en-US" sz="1250" noProof="1">
                <a:solidFill>
                  <a:srgbClr val="1F2A36"/>
                </a:solidFill>
                <a:latin typeface="MiSans"/>
                <a:ea typeface="MiSans"/>
              </a:rPr>
              <a:t>Teacher-actionable, evidence-traced insights — priorities, not labels</a:t>
            </a:r>
            <a:endParaRPr lang="en-US" sz="1600" noProof="1"/>
          </a:p>
        </p:txBody>
      </p:sp>
      <p:sp>
        <p:nvSpPr>
          <p:cNvPr id="9" name="q3"/>
          <p:cNvSpPr/>
          <p:nvPr/>
        </p:nvSpPr>
        <p:spPr>
          <a:xfrm>
            <a:off x="8128000" y="3873500"/>
            <a:ext cx="3429000" cy="2159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</p:sp>
      <p:sp>
        <p:nvSpPr>
          <p:cNvPr id="10" name="q3t"/>
          <p:cNvSpPr txBox="1"/>
          <p:nvPr/>
        </p:nvSpPr>
        <p:spPr>
          <a:xfrm>
            <a:off x="8318500" y="4038600"/>
            <a:ext cx="3048000" cy="184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2600" noProof="1">
                <a:solidFill>
                  <a:srgbClr val="333333"/>
                </a:solidFill>
                <a:latin typeface="MiSans"/>
                <a:ea typeface="MiSans"/>
              </a:rPr>
              <a:t>📈</a:t>
            </a:r>
            <a:endParaRPr lang="en-US" sz="1600" noProof="1"/>
          </a:p>
          <a:p>
            <a:pPr algn="ctr">
              <a:lnSpc>
                <a:spcPct val="140000"/>
              </a:lnSpc>
            </a:pPr>
            <a:r>
              <a:rPr lang="en-US" sz="1500" noProof="1" b="1">
                <a:solidFill>
                  <a:srgbClr val="1F3864"/>
                </a:solidFill>
                <a:latin typeface="MiSans"/>
                <a:ea typeface="MiSans"/>
              </a:rPr>
              <a:t>Is it working?</a:t>
            </a:r>
            <a:endParaRPr lang="en-US" sz="1600" noProof="1"/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lang="en-US" sz="1250" noProof="1">
                <a:solidFill>
                  <a:srgbClr val="1F2A36"/>
                </a:solidFill>
                <a:latin typeface="MiSans"/>
                <a:ea typeface="MiSans"/>
              </a:rPr>
              <a:t>Improving / stagnant / worsening — each child vs their own history, not just population norms</a:t>
            </a:r>
            <a:endParaRPr lang="en-US" sz="16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2794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F3864"/>
                </a:solidFill>
                <a:latin typeface="MiSans"/>
                <a:ea typeface="MiSans"/>
              </a:rPr>
              <a:t>The Three-Pillar Framework</a:t>
            </a:r>
            <a:endParaRPr lang="en-US" sz="2800" noProof="1"/>
          </a:p>
        </p:txBody>
      </p:sp>
      <p:pic>
        <p:nvPicPr>
          <p:cNvPr id="3" name="img"/>
          <p:cNvPicPr/>
          <p:nvPr/>
        </p:nvPicPr>
        <p:blipFill>
          <a:blip r:embed="rId2"/>
          <a:srcRect l="-4832" r="-4832"/>
          <a:stretch>
            <a:fillRect/>
          </a:stretch>
        </p:blipFill>
        <p:spPr>
          <a:xfrm>
            <a:off x="1968500" y="889000"/>
            <a:ext cx="8255000" cy="4953000"/>
          </a:xfrm>
          <a:prstGeom prst="rect">
            <a:avLst/>
          </a:prstGeom>
          <a:ln>
            <a:noFill/>
          </a:ln>
        </p:spPr>
      </p:pic>
      <p:sp>
        <p:nvSpPr>
          <p:cNvPr id="4" name="cap"/>
          <p:cNvSpPr txBox="1"/>
          <p:nvPr/>
        </p:nvSpPr>
        <p:spPr>
          <a:xfrm>
            <a:off x="1651000" y="59055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300" noProof="1" b="1">
                <a:solidFill>
                  <a:srgbClr val="2E7D5B"/>
                </a:solidFill>
                <a:latin typeface="MiSans"/>
                <a:ea typeface="MiSans"/>
              </a:rPr>
              <a:t>P1 See</a:t>
            </a:r>
            <a:r>
              <a:rPr lang="en-US" sz="1300" noProof="1">
                <a:solidFill>
                  <a:srgbClr val="5A6B7B"/>
                </a:solidFill>
                <a:latin typeface="MiSans"/>
                <a:ea typeface="MiSans"/>
              </a:rPr>
              <a:t> (HERA, under review) → </a:t>
            </a:r>
            <a:r>
              <a:rPr lang="en-US" sz="1300" noProof="1" b="1">
                <a:solidFill>
                  <a:srgbClr val="2E7D5B"/>
                </a:solidFill>
                <a:latin typeface="MiSans"/>
                <a:ea typeface="MiSans"/>
              </a:rPr>
              <a:t>P2 Hear</a:t>
            </a:r>
            <a:r>
              <a:rPr lang="en-US" sz="1300" noProof="1">
                <a:solidFill>
                  <a:srgbClr val="5A6B7B"/>
                </a:solidFill>
                <a:latin typeface="MiSans"/>
                <a:ea typeface="MiSans"/>
              </a:rPr>
              <a:t> (OSUR-G2P, under review) → </a:t>
            </a:r>
            <a:r>
              <a:rPr lang="en-US" sz="1300" noProof="1" b="1">
                <a:solidFill>
                  <a:srgbClr val="1F3864"/>
                </a:solidFill>
                <a:latin typeface="MiSans"/>
                <a:ea typeface="MiSans"/>
              </a:rPr>
              <a:t>P3 Understand &amp; Act</a:t>
            </a:r>
            <a:r>
              <a:rPr lang="en-US" sz="1300" noProof="1">
                <a:solidFill>
                  <a:srgbClr val="5A6B7B"/>
                </a:solidFill>
                <a:latin typeface="MiSans"/>
                <a:ea typeface="MiSans"/>
              </a:rPr>
              <a:t> (agentic layer — the doctoral contribution). The feedback arrow: intervention response refines the learner model.</a:t>
            </a:r>
            <a:endParaRPr lang="en-US" sz="13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35000" y="355600"/>
            <a:ext cx="2413000" cy="381000"/>
          </a:xfrm>
          <a:prstGeom prst="roundRect">
            <a:avLst/>
          </a:prstGeom>
          <a:solidFill>
            <a:srgbClr val="2E7D5B"/>
          </a:solidFill>
          <a:ln>
            <a:noFill/>
          </a:ln>
        </p:spPr>
      </p:sp>
      <p:sp>
        <p:nvSpPr>
          <p:cNvPr id="3" name="tagt"/>
          <p:cNvSpPr txBox="1"/>
          <p:nvPr/>
        </p:nvSpPr>
        <p:spPr>
          <a:xfrm>
            <a:off x="635000" y="3556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FFFFFF"/>
                </a:solidFill>
                <a:latin typeface="MiSans"/>
                <a:ea typeface="MiSans"/>
              </a:rPr>
              <a:t>COMPLETED · UNDER REVIEW</a:t>
            </a:r>
            <a:endParaRPr lang="en-US" sz="1250" noProof="1"/>
          </a:p>
        </p:txBody>
      </p:sp>
      <p:sp>
        <p:nvSpPr>
          <p:cNvPr id="4" name="title"/>
          <p:cNvSpPr txBox="1"/>
          <p:nvPr/>
        </p:nvSpPr>
        <p:spPr>
          <a:xfrm>
            <a:off x="635000" y="8382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F3864"/>
                </a:solidFill>
                <a:latin typeface="MiSans"/>
                <a:ea typeface="MiSans"/>
              </a:rPr>
              <a:t>P1 — HERA: Error-Preserving Recognition</a:t>
            </a:r>
            <a:endParaRPr lang="en-US" sz="2600" noProof="1"/>
          </a:p>
        </p:txBody>
      </p:sp>
      <p:sp>
        <p:nvSpPr>
          <p:cNvPr id="5" name="left"/>
          <p:cNvSpPr txBox="1"/>
          <p:nvPr/>
        </p:nvSpPr>
        <p:spPr>
          <a:xfrm>
            <a:off x="635000" y="1498600"/>
            <a:ext cx="5588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50" noProof="1" b="1">
                <a:solidFill>
                  <a:srgbClr val="1F2A36"/>
                </a:solidFill>
                <a:latin typeface="MiSans"/>
                <a:ea typeface="MiSans"/>
              </a:rPr>
              <a:t>Design:</a:t>
            </a: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 retrieval-only recognition — the language-model prior is removed from the loop entirely.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• Hierarchical 3-tier segmentation (VPP → Canny/contours → width fallback)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• Hybrid descriptor: frozen SigLIP-2 (768-d) + HOG (1,764-d) → 2,532-d vector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• HNSW nearest-neighbour retrieval + inverse-distance-weighted voting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• No lexicon, no beam search, no decoder → </a:t>
            </a:r>
            <a:r>
              <a:rPr lang="en-US" sz="1350" noProof="1" b="1">
                <a:solidFill>
                  <a:srgbClr val="1F2A36"/>
                </a:solidFill>
                <a:latin typeface="MiSans"/>
                <a:ea typeface="MiSans"/>
              </a:rPr>
              <a:t>the retrieved label is the output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50" noProof="1" b="1">
                <a:solidFill>
                  <a:srgbClr val="1F2A36"/>
                </a:solidFill>
                <a:latin typeface="MiSans"/>
                <a:ea typeface="MiSans"/>
              </a:rPr>
              <a:t>Knowledge base:</a:t>
            </a: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 336,527 images · 634 Malayalam grapheme classes (public on Hugging Face)</a:t>
            </a:r>
            <a:endParaRPr lang="en-US" sz="1350" noProof="1"/>
          </a:p>
        </p:txBody>
      </p:sp>
      <p:sp>
        <p:nvSpPr>
          <p:cNvPr id="6" name="kpi1"/>
          <p:cNvSpPr/>
          <p:nvPr/>
        </p:nvSpPr>
        <p:spPr>
          <a:xfrm>
            <a:off x="6604000" y="1524000"/>
            <a:ext cx="2349500" cy="1397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</p:sp>
      <p:sp>
        <p:nvSpPr>
          <p:cNvPr id="7" name="kpi1t"/>
          <p:cNvSpPr txBox="1"/>
          <p:nvPr/>
        </p:nvSpPr>
        <p:spPr>
          <a:xfrm>
            <a:off x="6705600" y="1625600"/>
            <a:ext cx="2146300" cy="1206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2600" noProof="1" b="1">
                <a:solidFill>
                  <a:srgbClr val="1F3864"/>
                </a:solidFill>
                <a:latin typeface="MiSans"/>
                <a:ea typeface="MiSans"/>
              </a:rPr>
              <a:t>0.17–0.20</a:t>
            </a:r>
            <a:endParaRPr lang="en-US" sz="1600" noProof="1"/>
          </a:p>
          <a:p>
            <a:pPr algn="ctr">
              <a:lnSpc>
                <a:spcPct val="125000"/>
              </a:lnSpc>
            </a:pPr>
            <a:r>
              <a:rPr lang="en-US" sz="1150" noProof="1">
                <a:solidFill>
                  <a:srgbClr val="1F2A36"/>
                </a:solidFill>
                <a:latin typeface="MiSans"/>
                <a:ea typeface="MiSans"/>
              </a:rPr>
              <a:t>CER on unseen children's handwriting (200-word / 50-word sets)</a:t>
            </a:r>
            <a:endParaRPr lang="en-US" sz="1600" noProof="1"/>
          </a:p>
        </p:txBody>
      </p:sp>
      <p:sp>
        <p:nvSpPr>
          <p:cNvPr id="8" name="kpi2"/>
          <p:cNvSpPr/>
          <p:nvPr/>
        </p:nvSpPr>
        <p:spPr>
          <a:xfrm>
            <a:off x="9207500" y="1524000"/>
            <a:ext cx="2349500" cy="1397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</p:sp>
      <p:sp>
        <p:nvSpPr>
          <p:cNvPr id="9" name="kpi2t"/>
          <p:cNvSpPr txBox="1"/>
          <p:nvPr/>
        </p:nvSpPr>
        <p:spPr>
          <a:xfrm>
            <a:off x="9309100" y="1625600"/>
            <a:ext cx="2146300" cy="1206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2600" noProof="1" b="1">
                <a:solidFill>
                  <a:srgbClr val="2E7D5B"/>
                </a:solidFill>
                <a:latin typeface="MiSans"/>
                <a:ea typeface="MiSans"/>
              </a:rPr>
              <a:t>+14.1 pp</a:t>
            </a:r>
            <a:endParaRPr lang="en-US" sz="1600" noProof="1"/>
          </a:p>
          <a:p>
            <a:pPr algn="ctr">
              <a:lnSpc>
                <a:spcPct val="125000"/>
              </a:lnSpc>
            </a:pPr>
            <a:r>
              <a:rPr lang="en-US" sz="1150" noProof="1">
                <a:solidFill>
                  <a:srgbClr val="1F2A36"/>
                </a:solidFill>
                <a:latin typeface="MiSans"/>
                <a:ea typeface="MiSans"/>
              </a:rPr>
              <a:t>accuracy gain of hybrid descriptor over SigLIP-2 alone (ablation)</a:t>
            </a:r>
            <a:endParaRPr lang="en-US" sz="1600" noProof="1"/>
          </a:p>
        </p:txBody>
      </p:sp>
      <p:sp>
        <p:nvSpPr>
          <p:cNvPr id="10" name="kpi3"/>
          <p:cNvSpPr/>
          <p:nvPr/>
        </p:nvSpPr>
        <p:spPr>
          <a:xfrm>
            <a:off x="6604000" y="3111500"/>
            <a:ext cx="4953000" cy="1016000"/>
          </a:xfrm>
          <a:prstGeom prst="roundRect">
            <a:avLst/>
          </a:prstGeom>
          <a:solidFill>
            <a:srgbClr val="FBF3E3"/>
          </a:solidFill>
          <a:ln>
            <a:noFill/>
          </a:ln>
        </p:spPr>
      </p:sp>
      <p:sp>
        <p:nvSpPr>
          <p:cNvPr id="11" name="kpi3t"/>
          <p:cNvSpPr txBox="1"/>
          <p:nvPr/>
        </p:nvSpPr>
        <p:spPr>
          <a:xfrm>
            <a:off x="6794500" y="3200400"/>
            <a:ext cx="457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1F2A36"/>
                </a:solidFill>
                <a:latin typeface="MiSans"/>
                <a:ea typeface="MiSans"/>
              </a:rPr>
              <a:t>Outperforms </a:t>
            </a:r>
            <a:r>
              <a:rPr lang="en-US" sz="1250" noProof="1" b="1">
                <a:solidFill>
                  <a:srgbClr val="1F2A36"/>
                </a:solidFill>
                <a:latin typeface="MiSans"/>
                <a:ea typeface="MiSans"/>
              </a:rPr>
              <a:t>Gemini 2.5 Pro, Sarvam AI, GPT-5.1, Claude Opus 4</a:t>
            </a:r>
            <a:r>
              <a:rPr lang="en-US" sz="1250" noProof="1">
                <a:solidFill>
                  <a:srgbClr val="1F2A36"/>
                </a:solidFill>
                <a:latin typeface="MiSans"/>
                <a:ea typeface="MiSans"/>
              </a:rPr>
              <a:t>, and two PaddleOCR variants — by 18.8 to 60 CER points</a:t>
            </a:r>
            <a:endParaRPr lang="en-US" sz="1250" noProof="1"/>
          </a:p>
        </p:txBody>
      </p:sp>
      <p:sp>
        <p:nvSpPr>
          <p:cNvPr id="12" name="notebox"/>
          <p:cNvSpPr/>
          <p:nvPr/>
        </p:nvSpPr>
        <p:spPr>
          <a:xfrm>
            <a:off x="635000" y="5461000"/>
            <a:ext cx="10922000" cy="9144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B9CBDD"/>
            </a:solidFill>
          </a:ln>
        </p:spPr>
      </p:sp>
      <p:sp>
        <p:nvSpPr>
          <p:cNvPr id="13" name="notetext"/>
          <p:cNvSpPr txBox="1"/>
          <p:nvPr/>
        </p:nvSpPr>
        <p:spPr>
          <a:xfrm>
            <a:off x="889000" y="55626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300" noProof="1" b="1">
                <a:solidFill>
                  <a:srgbClr val="1F3864"/>
                </a:solidFill>
                <a:latin typeface="MiSans"/>
                <a:ea typeface="MiSans"/>
              </a:rPr>
              <a:t>Why it matters for the thesis:</a:t>
            </a:r>
            <a:r>
              <a:rPr lang="en-US" sz="1300" noProof="1">
                <a:solidFill>
                  <a:srgbClr val="1F3864"/>
                </a:solidFill>
                <a:latin typeface="MiSans"/>
                <a:ea typeface="MiSans"/>
              </a:rPr>
              <a:t> each output character is traceable to a retrieved neighbourhood — not a hidden sequence prior. Substitution, omission, and vowel-sign errors are preserved verbatim for downstream analysis.</a:t>
            </a:r>
            <a:endParaRPr lang="en-US" sz="13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35000" y="355600"/>
            <a:ext cx="2413000" cy="381000"/>
          </a:xfrm>
          <a:prstGeom prst="roundRect">
            <a:avLst/>
          </a:prstGeom>
          <a:solidFill>
            <a:srgbClr val="2E7D5B"/>
          </a:solidFill>
          <a:ln>
            <a:noFill/>
          </a:ln>
        </p:spPr>
      </p:sp>
      <p:sp>
        <p:nvSpPr>
          <p:cNvPr id="3" name="tagt"/>
          <p:cNvSpPr txBox="1"/>
          <p:nvPr/>
        </p:nvSpPr>
        <p:spPr>
          <a:xfrm>
            <a:off x="635000" y="3556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FFFFFF"/>
                </a:solidFill>
                <a:latin typeface="MiSans"/>
                <a:ea typeface="MiSans"/>
              </a:rPr>
              <a:t>COMPLETED · UNDER REVIEW</a:t>
            </a:r>
            <a:endParaRPr lang="en-US" sz="1250" noProof="1"/>
          </a:p>
        </p:txBody>
      </p:sp>
      <p:sp>
        <p:nvSpPr>
          <p:cNvPr id="4" name="title"/>
          <p:cNvSpPr txBox="1"/>
          <p:nvPr/>
        </p:nvSpPr>
        <p:spPr>
          <a:xfrm>
            <a:off x="635000" y="8382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F3864"/>
                </a:solidFill>
                <a:latin typeface="MiSans"/>
                <a:ea typeface="MiSans"/>
              </a:rPr>
              <a:t>P2 — OSUR-G2P: Error-Preserving Phonological Analysis</a:t>
            </a:r>
            <a:endParaRPr lang="en-US" sz="2600" noProof="1"/>
          </a:p>
        </p:txBody>
      </p:sp>
      <p:sp>
        <p:nvSpPr>
          <p:cNvPr id="5" name="left"/>
          <p:cNvSpPr txBox="1"/>
          <p:nvPr/>
        </p:nvSpPr>
        <p:spPr>
          <a:xfrm>
            <a:off x="635000" y="1498600"/>
            <a:ext cx="5715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50" noProof="1" b="1">
                <a:solidFill>
                  <a:srgbClr val="1F2A36"/>
                </a:solidFill>
                <a:latin typeface="MiSans"/>
                <a:ea typeface="MiSans"/>
              </a:rPr>
              <a:t>Design:</a:t>
            </a: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 transcribe the mis-spelled word to IPA </a:t>
            </a:r>
            <a:r>
              <a:rPr lang="en-US" sz="1350" noProof="1" i="1">
                <a:solidFill>
                  <a:srgbClr val="1F2A36"/>
                </a:solidFill>
                <a:latin typeface="MiSans"/>
                <a:ea typeface="MiSans"/>
              </a:rPr>
              <a:t>without</a:t>
            </a: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 correcting it.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• </a:t>
            </a:r>
            <a:r>
              <a:rPr lang="en-US" sz="1350" noProof="1" b="1">
                <a:solidFill>
                  <a:srgbClr val="1F2A36"/>
                </a:solidFill>
                <a:latin typeface="MiSans"/>
                <a:ea typeface="MiSans"/>
              </a:rPr>
              <a:t>OSUR tokenizer</a:t>
            </a: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 — segments Malayalam into akshara units (clusters, matras, chillu, anusvara) that must not be split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• </a:t>
            </a:r>
            <a:r>
              <a:rPr lang="en-US" sz="1350" noProof="1" b="1">
                <a:solidFill>
                  <a:srgbClr val="1F2A36"/>
                </a:solidFill>
                <a:latin typeface="MiSans"/>
                <a:ea typeface="MiSans"/>
              </a:rPr>
              <a:t>Per-step decoder-conditioned alignment</a:t>
            </a: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 — two instantiations: BiLSTM + positional-encoding attention; OSUR-Transformer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• </a:t>
            </a:r>
            <a:r>
              <a:rPr lang="en-US" sz="1350" noProof="1" b="1">
                <a:solidFill>
                  <a:srgbClr val="1F2A36"/>
                </a:solidFill>
                <a:latin typeface="MiSans"/>
                <a:ea typeface="MiSans"/>
              </a:rPr>
              <a:t>GUPER</a:t>
            </a: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 — new grapheme-unit phoneme error rate for abugida scripts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• </a:t>
            </a:r>
            <a:r>
              <a:rPr lang="en-US" sz="1350" noProof="1" b="1">
                <a:solidFill>
                  <a:srgbClr val="1F2A36"/>
                </a:solidFill>
                <a:latin typeface="MiSans"/>
                <a:ea typeface="MiSans"/>
              </a:rPr>
              <a:t>Dataset:</a:t>
            </a: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 13,576 word–IPA pairs (3,800 authentic learner items), leakage-free word-disjoint protocol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• </a:t>
            </a:r>
            <a:r>
              <a:rPr lang="en-US" sz="1350" noProof="1" b="1">
                <a:solidFill>
                  <a:srgbClr val="1F2A36"/>
                </a:solidFill>
                <a:latin typeface="MiSans"/>
                <a:ea typeface="MiSans"/>
              </a:rPr>
              <a:t>12-rule error taxonomy</a:t>
            </a: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 — orthographic / phonological / phono-orthographic, derived from real learner data</a:t>
            </a:r>
            <a:endParaRPr lang="en-US" sz="1350" noProof="1"/>
          </a:p>
        </p:txBody>
      </p:sp>
      <p:sp>
        <p:nvSpPr>
          <p:cNvPr id="6" name="kpi1"/>
          <p:cNvSpPr/>
          <p:nvPr/>
        </p:nvSpPr>
        <p:spPr>
          <a:xfrm>
            <a:off x="6731000" y="1524000"/>
            <a:ext cx="2286000" cy="13335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</p:sp>
      <p:sp>
        <p:nvSpPr>
          <p:cNvPr id="7" name="kpi1t"/>
          <p:cNvSpPr txBox="1"/>
          <p:nvPr/>
        </p:nvSpPr>
        <p:spPr>
          <a:xfrm>
            <a:off x="6832600" y="1625600"/>
            <a:ext cx="20828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2600" noProof="1" b="1">
                <a:solidFill>
                  <a:srgbClr val="1F3864"/>
                </a:solidFill>
                <a:latin typeface="MiSans"/>
                <a:ea typeface="MiSans"/>
              </a:rPr>
              <a:t>0.84%</a:t>
            </a:r>
            <a:endParaRPr lang="en-US" sz="1600" noProof="1"/>
          </a:p>
          <a:p>
            <a:pPr algn="ctr">
              <a:lnSpc>
                <a:spcPct val="125000"/>
              </a:lnSpc>
            </a:pPr>
            <a:r>
              <a:rPr lang="en-US" sz="1150" noProof="1">
                <a:solidFill>
                  <a:srgbClr val="1F2A36"/>
                </a:solidFill>
                <a:latin typeface="MiSans"/>
                <a:ea typeface="MiSans"/>
              </a:rPr>
              <a:t>PER — BiLSTM instantiation (word-disjoint test)</a:t>
            </a:r>
            <a:endParaRPr lang="en-US" sz="1600" noProof="1"/>
          </a:p>
        </p:txBody>
      </p:sp>
      <p:sp>
        <p:nvSpPr>
          <p:cNvPr id="8" name="kpi2"/>
          <p:cNvSpPr/>
          <p:nvPr/>
        </p:nvSpPr>
        <p:spPr>
          <a:xfrm>
            <a:off x="9271000" y="1524000"/>
            <a:ext cx="2286000" cy="13335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</p:sp>
      <p:sp>
        <p:nvSpPr>
          <p:cNvPr id="9" name="kpi2t"/>
          <p:cNvSpPr txBox="1"/>
          <p:nvPr/>
        </p:nvSpPr>
        <p:spPr>
          <a:xfrm>
            <a:off x="9372600" y="1625600"/>
            <a:ext cx="20828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2600" noProof="1" b="1">
                <a:solidFill>
                  <a:srgbClr val="1F3864"/>
                </a:solidFill>
                <a:latin typeface="MiSans"/>
                <a:ea typeface="MiSans"/>
              </a:rPr>
              <a:t>2.82%</a:t>
            </a:r>
            <a:endParaRPr lang="en-US" sz="1600" noProof="1"/>
          </a:p>
          <a:p>
            <a:pPr algn="ctr">
              <a:lnSpc>
                <a:spcPct val="125000"/>
              </a:lnSpc>
            </a:pPr>
            <a:r>
              <a:rPr lang="en-US" sz="1150" noProof="1">
                <a:solidFill>
                  <a:srgbClr val="1F2A36"/>
                </a:solidFill>
                <a:latin typeface="MiSans"/>
                <a:ea typeface="MiSans"/>
              </a:rPr>
              <a:t>GUPER — unit-level error rate</a:t>
            </a:r>
            <a:endParaRPr lang="en-US" sz="1600" noProof="1"/>
          </a:p>
        </p:txBody>
      </p:sp>
      <p:sp>
        <p:nvSpPr>
          <p:cNvPr id="10" name="kpi3"/>
          <p:cNvSpPr/>
          <p:nvPr/>
        </p:nvSpPr>
        <p:spPr>
          <a:xfrm>
            <a:off x="6731000" y="3048000"/>
            <a:ext cx="4826000" cy="1079500"/>
          </a:xfrm>
          <a:prstGeom prst="roundRect">
            <a:avLst/>
          </a:prstGeom>
          <a:solidFill>
            <a:srgbClr val="FBF3E3"/>
          </a:solidFill>
          <a:ln>
            <a:noFill/>
          </a:ln>
        </p:spPr>
      </p:sp>
      <p:sp>
        <p:nvSpPr>
          <p:cNvPr id="11" name="kpi3t"/>
          <p:cNvSpPr txBox="1"/>
          <p:nvPr/>
        </p:nvSpPr>
        <p:spPr>
          <a:xfrm>
            <a:off x="6921500" y="3136900"/>
            <a:ext cx="4445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250" noProof="1">
                <a:solidFill>
                  <a:srgbClr val="1F2A36"/>
                </a:solidFill>
                <a:latin typeface="MiSans"/>
                <a:ea typeface="MiSans"/>
              </a:rPr>
              <a:t>Rule-based mlphon </a:t>
            </a:r>
            <a:r>
              <a:rPr lang="en-US" sz="1250" noProof="1" b="1">
                <a:solidFill>
                  <a:srgbClr val="1F2A36"/>
                </a:solidFill>
                <a:latin typeface="MiSans"/>
                <a:ea typeface="MiSans"/>
              </a:rPr>
              <a:t>rejects 43.5%</a:t>
            </a:r>
            <a:r>
              <a:rPr lang="en-US" sz="1250" noProof="1">
                <a:solidFill>
                  <a:srgbClr val="1F2A36"/>
                </a:solidFill>
                <a:latin typeface="MiSans"/>
                <a:ea typeface="MiSans"/>
              </a:rPr>
              <a:t> of authentic learner spellings — the exact inputs this framework is designed to transcribe</a:t>
            </a:r>
            <a:endParaRPr lang="en-US" sz="1250" noProof="1"/>
          </a:p>
        </p:txBody>
      </p:sp>
      <p:sp>
        <p:nvSpPr>
          <p:cNvPr id="12" name="exbox"/>
          <p:cNvSpPr/>
          <p:nvPr/>
        </p:nvSpPr>
        <p:spPr>
          <a:xfrm>
            <a:off x="635000" y="5435600"/>
            <a:ext cx="10922000" cy="9652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B9CBDD"/>
            </a:solidFill>
          </a:ln>
        </p:spPr>
      </p:sp>
      <p:sp>
        <p:nvSpPr>
          <p:cNvPr id="13" name="extext"/>
          <p:cNvSpPr txBox="1"/>
          <p:nvPr/>
        </p:nvSpPr>
        <p:spPr>
          <a:xfrm>
            <a:off x="889000" y="5524500"/>
            <a:ext cx="10414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300" noProof="1" b="1">
                <a:solidFill>
                  <a:srgbClr val="1F3864"/>
                </a:solidFill>
                <a:latin typeface="MiSans"/>
                <a:ea typeface="MiSans"/>
              </a:rPr>
              <a:t>Example:</a:t>
            </a:r>
            <a:r>
              <a:rPr lang="en-US" sz="1300" noProof="1">
                <a:solidFill>
                  <a:srgbClr val="1F3864"/>
                </a:solidFill>
                <a:latin typeface="MiSans"/>
                <a:ea typeface="MiSans"/>
              </a:rPr>
              <a:t> "ക്ലാാസ്സ്" (doubled vowel diacritic for "ക്ലാസ്സ്") → OSUR isolates [ക്ലാാ][സ്സ്] → model transcribes /klaːaː/ faithfully. The preserved phoneme error is the diagnostic evidence for the agentic layer.</a:t>
            </a:r>
            <a:endParaRPr lang="en-US" sz="13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635000" y="355600"/>
            <a:ext cx="2667000" cy="3810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3" name="tagt"/>
          <p:cNvSpPr txBox="1"/>
          <p:nvPr/>
        </p:nvSpPr>
        <p:spPr>
          <a:xfrm>
            <a:off x="635000" y="35560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FFFFFF"/>
                </a:solidFill>
                <a:latin typeface="MiSans"/>
                <a:ea typeface="MiSans"/>
              </a:rPr>
              <a:t>PROPOSED · DOCTORAL CORE</a:t>
            </a:r>
            <a:endParaRPr lang="en-US" sz="1250" noProof="1"/>
          </a:p>
        </p:txBody>
      </p:sp>
      <p:sp>
        <p:nvSpPr>
          <p:cNvPr id="4" name="title"/>
          <p:cNvSpPr txBox="1"/>
          <p:nvPr/>
        </p:nvSpPr>
        <p:spPr>
          <a:xfrm>
            <a:off x="635000" y="8382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F3864"/>
                </a:solidFill>
                <a:latin typeface="MiSans"/>
                <a:ea typeface="MiSans"/>
              </a:rPr>
              <a:t>P3 — The Agentic Diagnostic-Intervention Layer</a:t>
            </a:r>
            <a:endParaRPr lang="en-US" sz="2600" noProof="1"/>
          </a:p>
        </p:txBody>
      </p:sp>
      <p:sp>
        <p:nvSpPr>
          <p:cNvPr id="5" name="membox"/>
          <p:cNvSpPr/>
          <p:nvPr/>
        </p:nvSpPr>
        <p:spPr>
          <a:xfrm>
            <a:off x="635000" y="1473200"/>
            <a:ext cx="10922000" cy="711200"/>
          </a:xfrm>
          <a:prstGeom prst="roundRect">
            <a:avLst/>
          </a:prstGeom>
          <a:solidFill>
            <a:srgbClr val="FBF3E3"/>
          </a:solidFill>
          <a:ln>
            <a:noFill/>
          </a:ln>
        </p:spPr>
      </p:sp>
      <p:sp>
        <p:nvSpPr>
          <p:cNvPr id="6" name="memtext"/>
          <p:cNvSpPr txBox="1"/>
          <p:nvPr/>
        </p:nvSpPr>
        <p:spPr>
          <a:xfrm>
            <a:off x="889000" y="1536700"/>
            <a:ext cx="10414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350" noProof="1" b="1">
                <a:solidFill>
                  <a:srgbClr val="C9862B"/>
                </a:solidFill>
                <a:latin typeface="MiSans"/>
                <a:ea typeface="MiSans"/>
              </a:rPr>
              <a:t>Longitudinal Learner Memory</a:t>
            </a:r>
            <a:r>
              <a:rPr lang="en-US" sz="1350" noProof="1">
                <a:solidFill>
                  <a:srgbClr val="1F2A36"/>
                </a:solidFill>
                <a:latin typeface="MiSans"/>
                <a:ea typeface="MiSans"/>
              </a:rPr>
              <a:t> — structured per-child, per-error-class history built from HERA+G2P snapshots. Agents reason over this memory; they never compute trends in-context.</a:t>
            </a:r>
            <a:endParaRPr lang="en-US" sz="1350" noProof="1"/>
          </a:p>
        </p:txBody>
      </p:sp>
      <p:sp>
        <p:nvSpPr>
          <p:cNvPr id="7" name="a1"/>
          <p:cNvSpPr/>
          <p:nvPr/>
        </p:nvSpPr>
        <p:spPr>
          <a:xfrm>
            <a:off x="635000" y="2413000"/>
            <a:ext cx="3429000" cy="2540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</p:sp>
      <p:sp>
        <p:nvSpPr>
          <p:cNvPr id="8" name="a1t"/>
          <p:cNvSpPr txBox="1"/>
          <p:nvPr/>
        </p:nvSpPr>
        <p:spPr>
          <a:xfrm>
            <a:off x="787400" y="2540000"/>
            <a:ext cx="31242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400" noProof="1" b="1">
                <a:solidFill>
                  <a:srgbClr val="1F3864"/>
                </a:solidFill>
                <a:latin typeface="MiSans"/>
                <a:ea typeface="MiSans"/>
              </a:rPr>
              <a:t>Error-Analysis Agent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lang="en-US" sz="1200" noProof="1">
                <a:solidFill>
                  <a:srgbClr val="1F2A36"/>
                </a:solidFill>
                <a:latin typeface="MiSans"/>
                <a:ea typeface="MiSans"/>
              </a:rPr>
              <a:t>Calls HERA + OSUR-G2P as tools; retrieves similar linguist-labeled cases (~1,000-instance gold set); classifies each error against the diagnostic schema with evidence traces.</a:t>
            </a:r>
            <a:endParaRPr lang="en-US" sz="1600" noProof="1"/>
          </a:p>
        </p:txBody>
      </p:sp>
      <p:sp>
        <p:nvSpPr>
          <p:cNvPr id="9" name="a2"/>
          <p:cNvSpPr/>
          <p:nvPr/>
        </p:nvSpPr>
        <p:spPr>
          <a:xfrm>
            <a:off x="4381500" y="2413000"/>
            <a:ext cx="3429000" cy="2540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</p:sp>
      <p:sp>
        <p:nvSpPr>
          <p:cNvPr id="10" name="a2t"/>
          <p:cNvSpPr txBox="1"/>
          <p:nvPr/>
        </p:nvSpPr>
        <p:spPr>
          <a:xfrm>
            <a:off x="4533900" y="2540000"/>
            <a:ext cx="31242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400" noProof="1" b="1">
                <a:solidFill>
                  <a:srgbClr val="1F3864"/>
                </a:solidFill>
                <a:latin typeface="MiSans"/>
                <a:ea typeface="MiSans"/>
              </a:rPr>
              <a:t>Insight Agent (self-verifying)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lang="en-US" sz="1200" noProof="1">
                <a:solidFill>
                  <a:srgbClr val="1F2A36"/>
                </a:solidFill>
                <a:latin typeface="MiSans"/>
                <a:ea typeface="MiSans"/>
              </a:rPr>
              <a:t>Queries memory; calls deterministic stats tools (slope, change-point, mastery); issues improving / stagnant / worsening verdicts; critique–revise loop checks each claim against raw data.</a:t>
            </a:r>
            <a:endParaRPr lang="en-US" sz="1600" noProof="1"/>
          </a:p>
        </p:txBody>
      </p:sp>
      <p:sp>
        <p:nvSpPr>
          <p:cNvPr id="11" name="a3"/>
          <p:cNvSpPr/>
          <p:nvPr/>
        </p:nvSpPr>
        <p:spPr>
          <a:xfrm>
            <a:off x="8128000" y="2413000"/>
            <a:ext cx="3429000" cy="2540000"/>
          </a:xfrm>
          <a:prstGeom prst="roundRect">
            <a:avLst/>
          </a:prstGeom>
          <a:solidFill>
            <a:srgbClr val="EDF2F8"/>
          </a:solidFill>
          <a:ln>
            <a:noFill/>
          </a:ln>
        </p:spPr>
      </p:sp>
      <p:sp>
        <p:nvSpPr>
          <p:cNvPr id="12" name="a3t"/>
          <p:cNvSpPr txBox="1"/>
          <p:nvPr/>
        </p:nvSpPr>
        <p:spPr>
          <a:xfrm>
            <a:off x="8280400" y="2540000"/>
            <a:ext cx="31242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400" noProof="1" b="1">
                <a:solidFill>
                  <a:srgbClr val="1F3864"/>
                </a:solidFill>
                <a:latin typeface="MiSans"/>
                <a:ea typeface="MiSans"/>
              </a:rPr>
              <a:t>Intervention Planner + Content Agent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lang="en-US" sz="1200" noProof="1">
                <a:solidFill>
                  <a:srgbClr val="1F2A36"/>
                </a:solidFill>
                <a:latin typeface="MiSans"/>
                <a:ea typeface="MiSans"/>
              </a:rPr>
              <a:t>RTI/MTSS-tiered plan (Tier 1→3); generates Malayalam practice AND the next probe, verified by OSUR/mlphon so drills target the intended phoneme contrast.</a:t>
            </a:r>
            <a:endParaRPr lang="en-US" sz="1600" noProof="1"/>
          </a:p>
        </p:txBody>
      </p:sp>
      <p:sp>
        <p:nvSpPr>
          <p:cNvPr id="13" name="gate"/>
          <p:cNvSpPr/>
          <p:nvPr/>
        </p:nvSpPr>
        <p:spPr>
          <a:xfrm>
            <a:off x="635000" y="5143500"/>
            <a:ext cx="10922000" cy="5588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14" name="gatet"/>
          <p:cNvSpPr txBox="1"/>
          <p:nvPr/>
        </p:nvSpPr>
        <p:spPr>
          <a:xfrm>
            <a:off x="889000" y="5143500"/>
            <a:ext cx="1041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50" noProof="1">
                <a:solidFill>
                  <a:srgbClr val="FFFFFF"/>
                </a:solidFill>
                <a:latin typeface="MiSans"/>
                <a:ea typeface="MiSans"/>
              </a:rPr>
              <a:t>Orchestrator + Teacher Gate — every plan and insight passes human review; screening and support, never diagnosis</a:t>
            </a:r>
            <a:endParaRPr lang="en-US" sz="1350" noProof="1"/>
          </a:p>
        </p:txBody>
      </p:sp>
      <p:sp>
        <p:nvSpPr>
          <p:cNvPr id="15" name="probe"/>
          <p:cNvSpPr txBox="1"/>
          <p:nvPr/>
        </p:nvSpPr>
        <p:spPr>
          <a:xfrm>
            <a:off x="635000" y="5867400"/>
            <a:ext cx="10922000" cy="698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250" noProof="1" b="1">
                <a:solidFill>
                  <a:srgbClr val="5A6B7B"/>
                </a:solidFill>
                <a:latin typeface="MiSans"/>
                <a:ea typeface="MiSans"/>
              </a:rPr>
              <a:t>Probe mode:</a:t>
            </a:r>
            <a:r>
              <a:rPr lang="en-US" sz="1250" noProof="1">
                <a:solidFill>
                  <a:srgbClr val="5A6B7B"/>
                </a:solidFill>
                <a:latin typeface="MiSans"/>
                <a:ea typeface="MiSans"/>
              </a:rPr>
              <a:t> 10–15 grade-leveled dictation/picture-naming words every 2–3 weeks (mirrors RTI progress monitoring). The Content Agent generates the next probe — the intended word is never missing inside the loop. Free-writing analysis is scoped as future work.</a:t>
            </a:r>
            <a:endParaRPr lang="en-US" sz="125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3048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F3864"/>
                </a:solidFill>
                <a:latin typeface="MiSans"/>
                <a:ea typeface="MiSans"/>
              </a:rPr>
              <a:t>Novelty: Five New Mechanisms (N1–N5)</a:t>
            </a:r>
            <a:endParaRPr lang="en-US" sz="2800" noProof="1"/>
          </a:p>
        </p:txBody>
      </p:sp>
      <p:graphicFrame>
        <p:nvGraphicFramePr>
          <p:cNvPr id="3" name="tbl"/>
          <p:cNvGraphicFramePr>
            <a:graphicFrameLocks noGrp="1"/>
          </p:cNvGraphicFramePr>
          <p:nvPr/>
        </p:nvGraphicFramePr>
        <p:xfrm>
          <a:off x="508000" y="965200"/>
          <a:ext cx="11176000" cy="4191000"/>
        </p:xfrm>
        <a:graphic>
          <a:graphicData uri="http://schemas.openxmlformats.org/drawingml/2006/table">
            <a:tbl>
              <a:tblPr/>
              <a:tblGrid>
                <a:gridCol w="1005840"/>
                <a:gridCol w="3799840"/>
                <a:gridCol w="6370320"/>
              </a:tblGrid>
              <a:tr h="4610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Code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Claim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74599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N1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Longitudinal learner memory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First structured, per-error-class memory of handwriting-derived evidence for educational agents — in any language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99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N2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Self-verifying insight generation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Critique–revise loop grounds each insight in raw data via tool calls — tackles LLM hallucination in child assessment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</a:tr>
              <a:tr h="74599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N3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Evidence-traced insight language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Every insight is machine-checkable; introduces insight-faithfulness as a new measurable evaluation problem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99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N4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Phonology-constrained content generation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Generated Malayalam drills verified by OSUR/mlphon — constraint-verified generation in a low-resource language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</a:tr>
              <a:tr h="74599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N5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Tool-mediated numeracy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Agents call deterministic stats tools; ablation vs free-reasoning agents turns the design choice into an experiment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laims"/>
          <p:cNvSpPr/>
          <p:nvPr/>
        </p:nvSpPr>
        <p:spPr>
          <a:xfrm>
            <a:off x="508000" y="5384800"/>
            <a:ext cx="11176000" cy="11176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5" name="claimst"/>
          <p:cNvSpPr txBox="1"/>
          <p:nvPr/>
        </p:nvSpPr>
        <p:spPr>
          <a:xfrm>
            <a:off x="825500" y="5461000"/>
            <a:ext cx="10541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5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Layer-level claims:</a:t>
            </a:r>
            <a:r>
              <a:rPr lang="en-US" sz="1300" noProof="1">
                <a:solidFill>
                  <a:srgbClr val="FFFFFF"/>
                </a:solidFill>
                <a:latin typeface="MiSans"/>
                <a:ea typeface="MiSans"/>
              </a:rPr>
              <a:t> first agentic diagnostic-intervention system driven by handwriting evidence · first LLM-agent architecture grounded in RTI/MTSS · first agentic system with a provably error-preserving perception layer · closed causal loop — intervention effect measured by the same pipeline that triggered it.</a:t>
            </a:r>
            <a:endParaRPr lang="en-US" sz="13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3048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F3864"/>
                </a:solidFill>
                <a:latin typeface="MiSans"/>
                <a:ea typeface="MiSans"/>
              </a:rPr>
              <a:t>Research Questions and Evaluation Plan</a:t>
            </a:r>
            <a:endParaRPr lang="en-US" sz="2800" noProof="1"/>
          </a:p>
        </p:txBody>
      </p:sp>
      <p:sp>
        <p:nvSpPr>
          <p:cNvPr id="3" name="rqs"/>
          <p:cNvSpPr txBox="1"/>
          <p:nvPr/>
        </p:nvSpPr>
        <p:spPr>
          <a:xfrm>
            <a:off x="635000" y="939800"/>
            <a:ext cx="10922000" cy="213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8000"/>
              </a:lnSpc>
            </a:pPr>
            <a:r>
              <a:rPr lang="en-US" sz="1220" noProof="1" b="1">
                <a:solidFill>
                  <a:srgbClr val="2E7D5B"/>
                </a:solidFill>
                <a:latin typeface="MiSans"/>
                <a:ea typeface="MiSans"/>
              </a:rPr>
              <a:t>RQ1, RQ2 — answered (under review):</a:t>
            </a:r>
            <a:r>
              <a:rPr lang="en-US" sz="1220" noProof="1">
                <a:solidFill>
                  <a:srgbClr val="1F2A36"/>
                </a:solidFill>
                <a:latin typeface="MiSans"/>
                <a:ea typeface="MiSans"/>
              </a:rPr>
              <a:t> error-preserving recognition (HERA, CER 0.17–0.20) and phonology (OSUR-G2P, PER 0.84%) outperform correction-oriented systems.</a:t>
            </a:r>
            <a:endParaRPr lang="en-US" sz="1220" noProof="1"/>
          </a:p>
          <a:p>
            <a:pPr>
              <a:lnSpc>
                <a:spcPct val="138000"/>
              </a:lnSpc>
              <a:spcBef>
                <a:spcPts val="400"/>
              </a:spcBef>
            </a:pPr>
            <a:r>
              <a:rPr lang="en-US" sz="1220" noProof="1" b="1">
                <a:solidFill>
                  <a:srgbClr val="1F3864"/>
                </a:solidFill>
                <a:latin typeface="MiSans"/>
                <a:ea typeface="MiSans"/>
              </a:rPr>
              <a:t>RQ3 (identification &amp; insight):</a:t>
            </a:r>
            <a:r>
              <a:rPr lang="en-US" sz="1220" noProof="1">
                <a:solidFill>
                  <a:srgbClr val="1F2A36"/>
                </a:solidFill>
                <a:latin typeface="MiSans"/>
                <a:ea typeface="MiSans"/>
              </a:rPr>
              <a:t> can a tool-augmented agent with longitudinal memory identify which specific difficulties a child shows, with evidence-traced insights validated against linguist labels and a NIMHANS-style instrument?</a:t>
            </a:r>
            <a:endParaRPr lang="en-US" sz="1220" noProof="1"/>
          </a:p>
          <a:p>
            <a:pPr>
              <a:lnSpc>
                <a:spcPct val="138000"/>
              </a:lnSpc>
              <a:spcBef>
                <a:spcPts val="400"/>
              </a:spcBef>
            </a:pPr>
            <a:r>
              <a:rPr lang="en-US" sz="1220" noProof="1" b="1">
                <a:solidFill>
                  <a:srgbClr val="1F3864"/>
                </a:solidFill>
                <a:latin typeface="MiSans"/>
                <a:ea typeface="MiSans"/>
              </a:rPr>
              <a:t>RQ3b (progress monitoring):</a:t>
            </a:r>
            <a:r>
              <a:rPr lang="en-US" sz="1220" noProof="1">
                <a:solidFill>
                  <a:srgbClr val="1F2A36"/>
                </a:solidFill>
                <a:latin typeface="MiSans"/>
                <a:ea typeface="MiSans"/>
              </a:rPr>
              <a:t> do improving / stagnant / worsening verdicts match measured learning gains, with earlier signal than re-screening?</a:t>
            </a:r>
            <a:endParaRPr lang="en-US" sz="1220" noProof="1"/>
          </a:p>
          <a:p>
            <a:pPr>
              <a:lnSpc>
                <a:spcPct val="138000"/>
              </a:lnSpc>
              <a:spcBef>
                <a:spcPts val="400"/>
              </a:spcBef>
            </a:pPr>
            <a:r>
              <a:rPr lang="en-US" sz="1220" noProof="1" b="1">
                <a:solidFill>
                  <a:srgbClr val="1F3864"/>
                </a:solidFill>
                <a:latin typeface="MiSans"/>
                <a:ea typeface="MiSans"/>
              </a:rPr>
              <a:t>RQ4 (intervention):</a:t>
            </a:r>
            <a:r>
              <a:rPr lang="en-US" sz="1220" noProof="1">
                <a:solidFill>
                  <a:srgbClr val="1F2A36"/>
                </a:solidFill>
                <a:latin typeface="MiSans"/>
                <a:ea typeface="MiSans"/>
              </a:rPr>
              <a:t> does the RTI-aligned agentic plan beat a static baseline on learning gains? </a:t>
            </a:r>
            <a:r>
              <a:rPr lang="en-US" sz="1220" noProof="1" b="1">
                <a:solidFill>
                  <a:srgbClr val="1F3864"/>
                </a:solidFill>
                <a:latin typeface="MiSans"/>
                <a:ea typeface="MiSans"/>
              </a:rPr>
              <a:t>RQ5:</a:t>
            </a:r>
            <a:r>
              <a:rPr lang="en-US" sz="1220" noProof="1">
                <a:solidFill>
                  <a:srgbClr val="1F2A36"/>
                </a:solidFill>
                <a:latin typeface="MiSans"/>
                <a:ea typeface="MiSans"/>
              </a:rPr>
              <a:t> transfer to a second akshara script with script-level changes only.</a:t>
            </a:r>
            <a:endParaRPr lang="en-US" sz="1220" noProof="1"/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508000" y="3200400"/>
          <a:ext cx="11176000" cy="2667000"/>
        </p:xfrm>
        <a:graphic>
          <a:graphicData uri="http://schemas.openxmlformats.org/drawingml/2006/table">
            <a:tbl>
              <a:tblPr/>
              <a:tblGrid>
                <a:gridCol w="2458720"/>
                <a:gridCol w="4693920"/>
                <a:gridCol w="4023360"/>
              </a:tblGrid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Metrics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Baselines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7340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P1 HERA (done)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CER 0.20 / 0.17; per-class accuracy; +14.1 pp hybrid ablation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Gemini 2.5 Pro, Sarvam, GPT-5.1, Claude Opus 4, PaddleOCR ×2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340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P2 OSUR-G2P (done)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PER 0.84% / GUPER 2.82%; bigram-holdout stress test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Static-attention (2.96%); mlphon (rejects 43.5%)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</a:tr>
              <a:tr h="57340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P3a Insight / monitoring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AUC vs clinical assessment; classification F1 vs linguist labels; trajectory-verdict accuracy; insight-faithfulness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Free-reasoning LLM agent (no tools); human checklist; re-screening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340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P3b Intervention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Learning gain per error class; time-to-improvement; teacher acceptance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Static plan; monitoring-without-agents ablation; waitlist where ethical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5" name="data"/>
          <p:cNvSpPr txBox="1"/>
          <p:nvPr/>
        </p:nvSpPr>
        <p:spPr>
          <a:xfrm>
            <a:off x="635000" y="6032500"/>
            <a:ext cx="10922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250" noProof="1" b="1">
                <a:solidFill>
                  <a:srgbClr val="5A6B7B"/>
                </a:solidFill>
                <a:latin typeface="MiSans"/>
                <a:ea typeface="MiSans"/>
              </a:rPr>
              <a:t>Data assets in hand:</a:t>
            </a:r>
            <a:r>
              <a:rPr lang="en-US" sz="1250" noProof="1">
                <a:solidFill>
                  <a:srgbClr val="5A6B7B"/>
                </a:solidFill>
                <a:latin typeface="MiSans"/>
                <a:ea typeface="MiSans"/>
              </a:rPr>
              <a:t> 336,527-image character KB · 13,576 word–IPA pairs · ~1,000 linguist-labeled error instances (Haridas framework) · ethics approval AMRITNSOE/ADMN/DON03/2026/002 already in place.</a:t>
            </a:r>
            <a:endParaRPr lang="en-US" sz="125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35000" y="3048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F3864"/>
                </a:solidFill>
                <a:latin typeface="MiSans"/>
                <a:ea typeface="MiSans"/>
              </a:rPr>
              <a:t>Timeline and Publication Pipeline</a:t>
            </a:r>
            <a:endParaRPr lang="en-US" sz="2800" noProof="1"/>
          </a:p>
        </p:txBody>
      </p:sp>
      <p:graphicFrame>
        <p:nvGraphicFramePr>
          <p:cNvPr id="3" name="tbl"/>
          <p:cNvGraphicFramePr>
            <a:graphicFrameLocks noGrp="1"/>
          </p:cNvGraphicFramePr>
          <p:nvPr/>
        </p:nvGraphicFramePr>
        <p:xfrm>
          <a:off x="508000" y="965200"/>
          <a:ext cx="11176000" cy="3302000"/>
        </p:xfrm>
        <a:graphic>
          <a:graphicData uri="http://schemas.openxmlformats.org/drawingml/2006/table">
            <a:tbl>
              <a:tblPr/>
              <a:tblGrid>
                <a:gridCol w="2011680"/>
                <a:gridCol w="9164320"/>
              </a:tblGrid>
              <a:tr h="3962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Period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Milestone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8115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Sem 1–2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Diagnostic error schema (extend 12-rule taxonomy + visual/motoric classes); learner memory design; Error-Analysis Agent over the linguist-labeled set; ethics renewal for longitudinal collection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115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Sem 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Insight Agent with stats tools + self-verification loop; insight-faithfulness metric; N5 ablation (tool-mediated vs free-reasoning agents)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</a:tr>
              <a:tr h="58115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Sem 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Intervention Planner + Content Agent (phonology-constrained generation); probe design protocol; school partnership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115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Sem 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Longitudinal pilot in schools; at-risk validation against standard instrument; trajectory-verdict evaluation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6F9FC"/>
                    </a:solidFill>
                  </a:tcPr>
                </a:tc>
              </a:tr>
              <a:tr h="58115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Sem 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F2A36"/>
                          </a:solidFill>
                          <a:latin typeface="Times New Roman"/>
                          <a:ea typeface="Times New Roman"/>
                        </a:rPr>
                        <a:t>Cross-script transfer study (RQ5); intervention learning-gain analysis; thesis writing and submission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B9CB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pubs"/>
          <p:cNvSpPr/>
          <p:nvPr/>
        </p:nvSpPr>
        <p:spPr>
          <a:xfrm>
            <a:off x="508000" y="4508500"/>
            <a:ext cx="11176000" cy="1651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B9CBDD"/>
            </a:solidFill>
          </a:ln>
        </p:spPr>
      </p:sp>
      <p:sp>
        <p:nvSpPr>
          <p:cNvPr id="5" name="pubst"/>
          <p:cNvSpPr txBox="1"/>
          <p:nvPr/>
        </p:nvSpPr>
        <p:spPr>
          <a:xfrm>
            <a:off x="825500" y="4673600"/>
            <a:ext cx="10541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300" noProof="1" b="1">
                <a:solidFill>
                  <a:srgbClr val="1F3864"/>
                </a:solidFill>
                <a:latin typeface="MiSans"/>
                <a:ea typeface="MiSans"/>
              </a:rPr>
              <a:t>Publication pipeline:</a:t>
            </a:r>
            <a:endParaRPr lang="en-US" sz="1300" noProof="1"/>
          </a:p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1F2A36"/>
                </a:solidFill>
                <a:latin typeface="MiSans"/>
                <a:ea typeface="MiSans"/>
              </a:rPr>
              <a:t>• P1 HERA — </a:t>
            </a:r>
            <a:r>
              <a:rPr lang="en-US" sz="1300" noProof="1" i="1">
                <a:solidFill>
                  <a:srgbClr val="1F2A36"/>
                </a:solidFill>
                <a:latin typeface="MiSans"/>
                <a:ea typeface="MiSans"/>
              </a:rPr>
              <a:t>under review</a:t>
            </a:r>
            <a:r>
              <a:rPr lang="en-US" sz="1300" noProof="1">
                <a:solidFill>
                  <a:srgbClr val="1F2A36"/>
                </a:solidFill>
                <a:latin typeface="MiSans"/>
                <a:ea typeface="MiSans"/>
              </a:rPr>
              <a:t> (document analysis: IJDAR / ICDAR / DAS) • P2 OSUR-G2P — </a:t>
            </a:r>
            <a:r>
              <a:rPr lang="en-US" sz="1300" noProof="1" i="1">
                <a:solidFill>
                  <a:srgbClr val="1F2A36"/>
                </a:solidFill>
                <a:latin typeface="MiSans"/>
                <a:ea typeface="MiSans"/>
              </a:rPr>
              <a:t>under review</a:t>
            </a:r>
            <a:r>
              <a:rPr lang="en-US" sz="1300" noProof="1">
                <a:solidFill>
                  <a:srgbClr val="1F2A36"/>
                </a:solidFill>
                <a:latin typeface="MiSans"/>
                <a:ea typeface="MiSans"/>
              </a:rPr>
              <a:t> (NLP: SNCS / COLING / LREC)</a:t>
            </a:r>
            <a:endParaRPr lang="en-US" sz="1300" noProof="1"/>
          </a:p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1F2A36"/>
                </a:solidFill>
                <a:latin typeface="MiSans"/>
                <a:ea typeface="MiSans"/>
              </a:rPr>
              <a:t>• P3a diagnostic schema + longitudinal profiling — ACM IDC / assistive-tech • P3b agentic layer — AIED / EDM / ITS</a:t>
            </a:r>
            <a:endParaRPr lang="en-US" sz="13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3864"/>
            </a:gs>
            <a:gs pos="100000">
              <a:srgbClr val="2E5A87"/>
            </a:gs>
          </a:gsLst>
          <a:lin ang="72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16000" y="8890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3000" noProof="1" b="1">
                <a:solidFill>
                  <a:srgbClr val="FFFFFF"/>
                </a:solidFill>
                <a:latin typeface="MiSans"/>
                <a:ea typeface="MiSans"/>
              </a:rPr>
              <a:t>Why This Research, and Why Now</a:t>
            </a:r>
            <a:endParaRPr lang="en-US" sz="3000" noProof="1"/>
          </a:p>
        </p:txBody>
      </p:sp>
      <p:sp>
        <p:nvSpPr>
          <p:cNvPr id="3" name="b1"/>
          <p:cNvSpPr txBox="1"/>
          <p:nvPr/>
        </p:nvSpPr>
        <p:spPr>
          <a:xfrm>
            <a:off x="1397000" y="1905000"/>
            <a:ext cx="9398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60000"/>
              </a:lnSpc>
            </a:pPr>
            <a:r>
              <a:rPr lang="en-US" sz="1550" noProof="1">
                <a:solidFill>
                  <a:srgbClr val="DCE7F3"/>
                </a:solidFill>
                <a:latin typeface="MiSans"/>
                <a:ea typeface="MiSans"/>
              </a:rPr>
              <a:t>• </a:t>
            </a:r>
            <a:r>
              <a:rPr lang="en-US" sz="1550" noProof="1" b="1">
                <a:solidFill>
                  <a:srgbClr val="FFFFFF"/>
                </a:solidFill>
                <a:latin typeface="MiSans"/>
                <a:ea typeface="MiSans"/>
              </a:rPr>
              <a:t>A real, unmet need:</a:t>
            </a:r>
            <a:r>
              <a:rPr lang="en-US" sz="1550" noProof="1">
                <a:solidFill>
                  <a:srgbClr val="DCE7F3"/>
                </a:solidFill>
                <a:latin typeface="MiSans"/>
                <a:ea typeface="MiSans"/>
              </a:rPr>
              <a:t> 1 in 6 Kerala children has a learning disorder; none are identified; early support works</a:t>
            </a:r>
            <a:endParaRPr lang="en-US" sz="155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50" noProof="1">
                <a:solidFill>
                  <a:srgbClr val="DCE7F3"/>
                </a:solidFill>
                <a:latin typeface="MiSans"/>
                <a:ea typeface="MiSans"/>
              </a:rPr>
              <a:t>• </a:t>
            </a:r>
            <a:r>
              <a:rPr lang="en-US" sz="1550" noProof="1" b="1">
                <a:solidFill>
                  <a:srgbClr val="FFFFFF"/>
                </a:solidFill>
                <a:latin typeface="MiSans"/>
                <a:ea typeface="MiSans"/>
              </a:rPr>
              <a:t>A proven foundation:</a:t>
            </a:r>
            <a:r>
              <a:rPr lang="en-US" sz="1550" noProof="1">
                <a:solidFill>
                  <a:srgbClr val="DCE7F3"/>
                </a:solidFill>
                <a:latin typeface="MiSans"/>
                <a:ea typeface="MiSans"/>
              </a:rPr>
              <a:t> two perception works completed and under review, with datasets and ethics approval in hand</a:t>
            </a:r>
            <a:endParaRPr lang="en-US" sz="155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50" noProof="1">
                <a:solidFill>
                  <a:srgbClr val="DCE7F3"/>
                </a:solidFill>
                <a:latin typeface="MiSans"/>
                <a:ea typeface="MiSans"/>
              </a:rPr>
              <a:t>• </a:t>
            </a:r>
            <a:r>
              <a:rPr lang="en-US" sz="1550" noProof="1" b="1">
                <a:solidFill>
                  <a:srgbClr val="FFFFFF"/>
                </a:solidFill>
                <a:latin typeface="MiSans"/>
                <a:ea typeface="MiSans"/>
              </a:rPr>
              <a:t>A defensible design:</a:t>
            </a:r>
            <a:r>
              <a:rPr lang="en-US" sz="1550" noProof="1">
                <a:solidFill>
                  <a:srgbClr val="DCE7F3"/>
                </a:solidFill>
                <a:latin typeface="MiSans"/>
                <a:ea typeface="MiSans"/>
              </a:rPr>
              <a:t> error preservation is architectural; agents orchestrate verified evidence — a claim backed by our own measurements, not preference</a:t>
            </a:r>
            <a:endParaRPr lang="en-US" sz="155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50" noProof="1">
                <a:solidFill>
                  <a:srgbClr val="DCE7F3"/>
                </a:solidFill>
                <a:latin typeface="MiSans"/>
                <a:ea typeface="MiSans"/>
              </a:rPr>
              <a:t>• </a:t>
            </a:r>
            <a:r>
              <a:rPr lang="en-US" sz="1550" noProof="1" b="1">
                <a:solidFill>
                  <a:srgbClr val="FFFFFF"/>
                </a:solidFill>
                <a:latin typeface="MiSans"/>
                <a:ea typeface="MiSans"/>
              </a:rPr>
              <a:t>A genuine gap:</a:t>
            </a:r>
            <a:r>
              <a:rPr lang="en-US" sz="1550" noProof="1">
                <a:solidFill>
                  <a:srgbClr val="DCE7F3"/>
                </a:solidFill>
                <a:latin typeface="MiSans"/>
                <a:ea typeface="MiSans"/>
              </a:rPr>
              <a:t> the first agentic diagnostic-intervention system driven by handwriting evidence — for Malayalam, designed to transfer across akshara scripts</a:t>
            </a:r>
            <a:endParaRPr lang="en-US" sz="1550" noProof="1"/>
          </a:p>
        </p:txBody>
      </p:sp>
      <p:sp>
        <p:nvSpPr>
          <p:cNvPr id="4" name="pitch"/>
          <p:cNvSpPr/>
          <p:nvPr/>
        </p:nvSpPr>
        <p:spPr>
          <a:xfrm>
            <a:off x="1397000" y="5270500"/>
            <a:ext cx="9398000" cy="889000"/>
          </a:xfrm>
          <a:prstGeom prst="roundRect">
            <a:avLst/>
          </a:prstGeom>
          <a:solidFill>
            <a:srgbClr val="C9862B"/>
          </a:solidFill>
          <a:ln>
            <a:noFill/>
          </a:ln>
        </p:spPr>
      </p:sp>
      <p:sp>
        <p:nvSpPr>
          <p:cNvPr id="5" name="pitcht"/>
          <p:cNvSpPr txBox="1"/>
          <p:nvPr/>
        </p:nvSpPr>
        <p:spPr>
          <a:xfrm>
            <a:off x="1651000" y="5346700"/>
            <a:ext cx="889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450" noProof="1" b="1">
                <a:solidFill>
                  <a:srgbClr val="FFFFFF"/>
                </a:solidFill>
                <a:latin typeface="MiSans"/>
                <a:ea typeface="MiSans"/>
              </a:rPr>
              <a:t>The system never asks "does this child have a problem?" once — it continuously answers three questions: which difficulties, what to work on, and is it working?</a:t>
            </a:r>
            <a:endParaRPr lang="en-US" sz="1450" noProof="1"/>
          </a:p>
        </p:txBody>
      </p:sp>
      <p:sp>
        <p:nvSpPr>
          <p:cNvPr id="6" name="thanks"/>
          <p:cNvSpPr txBox="1"/>
          <p:nvPr/>
        </p:nvSpPr>
        <p:spPr>
          <a:xfrm>
            <a:off x="3556000" y="6350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9FB8D4"/>
                </a:solidFill>
                <a:latin typeface="MiSans"/>
                <a:ea typeface="MiSans"/>
              </a:rPr>
              <a:t>Thank you — questions welcome</a:t>
            </a:r>
            <a:endParaRPr lang="en-US" sz="13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14</Slides>
</Properties>
</file>

<file path=docProps/core.xml><?xml version="1.0" encoding="utf-8"?>
<cp:coreProperties xmlns:dc="http://purl.org/dc/elements/1.1/" xmlns:cp="http://schemas.openxmlformats.org/package/2006/metadata/core-properties">
  <dc:title>PhD Qualifier — Agentic AI for Early Identification of Writing Difficulties in Malayalam Handwriting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